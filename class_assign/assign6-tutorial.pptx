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4173" r:id="rId1"/>
  </p:sldMasterIdLst>
  <p:notesMasterIdLst>
    <p:notesMasterId r:id="rId17"/>
  </p:notesMasterIdLst>
  <p:sldIdLst>
    <p:sldId id="256" r:id="rId2"/>
    <p:sldId id="257" r:id="rId3"/>
    <p:sldId id="268" r:id="rId4"/>
    <p:sldId id="278" r:id="rId5"/>
    <p:sldId id="279" r:id="rId6"/>
    <p:sldId id="261" r:id="rId7"/>
    <p:sldId id="262" r:id="rId8"/>
    <p:sldId id="280" r:id="rId9"/>
    <p:sldId id="281" r:id="rId10"/>
    <p:sldId id="282" r:id="rId11"/>
    <p:sldId id="266" r:id="rId12"/>
    <p:sldId id="283" r:id="rId13"/>
    <p:sldId id="284" r:id="rId14"/>
    <p:sldId id="269" r:id="rId15"/>
    <p:sldId id="277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82" d="100"/>
          <a:sy n="82" d="100"/>
        </p:scale>
        <p:origin x="1474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9F18A64-8AA7-4C3A-B7CB-E2BAF42C5488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F471272-A307-43F8-9383-77AE1409A4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65063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A04E0A-6AFC-47C2-97E9-1F681A7D4B22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68980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AC4CB7-0C99-A8E9-302B-BF8AEEC931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9CE1E83-779F-E38E-0B0B-0EACE7D07BC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5450373-76A5-13B7-38D3-1509BA5898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9C3A62-87D0-8F7E-7872-2B00BE45390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A04E0A-6AFC-47C2-97E9-1F681A7D4B22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432261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379603-AFBF-AAFC-B2C4-619152B594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D79F0AF-DE04-4CE9-FECB-44074F5E7EA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33B8EEF-CC84-82C5-BEE6-FC64B7CFAF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97C9F7-17BE-EA43-D7BF-43FEAD4AF93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A04E0A-6AFC-47C2-97E9-1F681A7D4B22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072791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AC726F-D030-9A9F-D81E-B69A67C590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DB141B3-9148-7B09-A232-ED77EF2198A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224BD10-70CA-FCD3-3D86-EDB850C95A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7F9E92-4471-905A-031D-6F2C0F2D29E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A04E0A-6AFC-47C2-97E9-1F681A7D4B22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84201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28020" y="1769541"/>
            <a:ext cx="7080026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28020" y="3598339"/>
            <a:ext cx="7080026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5803467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 advTm="1680">
        <p15:prstTrans prst="pageCurlDouble"/>
      </p:transition>
    </mc:Choice>
    <mc:Fallback>
      <p:transition spd="slow" advTm="1680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9173833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 advTm="1680">
        <p15:prstTrans prst="pageCurlDouble"/>
      </p:transition>
    </mc:Choice>
    <mc:Fallback>
      <p:transition spd="slow" advTm="1680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1551" y="1761068"/>
            <a:ext cx="7192913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1551" y="3589879"/>
            <a:ext cx="7192913" cy="150705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7056477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 advTm="1680">
        <p15:prstTrans prst="pageCurlDouble"/>
      </p:transition>
    </mc:Choice>
    <mc:Fallback>
      <p:transition spd="slow" advTm="1680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347" y="1732449"/>
            <a:ext cx="3795373" cy="4058750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52169" y="1732450"/>
            <a:ext cx="3798499" cy="4058751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8633911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 advTm="1680">
        <p15:prstTrans prst="pageCurlDouble"/>
      </p:transition>
    </mc:Choice>
    <mc:Fallback>
      <p:transition spd="slow" advTm="1680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Slate-V2-S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345" y="1770323"/>
            <a:ext cx="3787423" cy="4112953"/>
          </a:xfrm>
          <a:prstGeom prst="rect">
            <a:avLst/>
          </a:prstGeom>
        </p:spPr>
      </p:pic>
      <p:pic>
        <p:nvPicPr>
          <p:cNvPr id="14" name="Picture 13" descr="Slate-V2-S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3245" y="1770323"/>
            <a:ext cx="3787423" cy="411295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4404" y="1835254"/>
            <a:ext cx="3657258" cy="54488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54404" y="2380138"/>
            <a:ext cx="3657258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21225" y="1835255"/>
            <a:ext cx="3671498" cy="544883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21225" y="2380138"/>
            <a:ext cx="3671498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4167241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 advTm="1680">
        <p15:prstTrans prst="pageCurlDouble"/>
      </p:transition>
    </mc:Choice>
    <mc:Fallback>
      <p:transition spd="slow" advTm="1680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495044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 advTm="1680">
        <p15:prstTrans prst="pageCurlDouble"/>
      </p:transition>
    </mc:Choice>
    <mc:Fallback>
      <p:transition spd="slow" advTm="1680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7567542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 advTm="1680">
        <p15:prstTrans prst="pageCurlDouble"/>
      </p:transition>
    </mc:Choice>
    <mc:Fallback>
      <p:transition spd="slow" advTm="1680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7" y="609600"/>
            <a:ext cx="2780167" cy="182191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41725" y="609600"/>
            <a:ext cx="4808943" cy="51816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7" y="2431518"/>
            <a:ext cx="2780167" cy="3359681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1103475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 advTm="1680">
        <p15:prstTrans prst="pageCurlDouble"/>
      </p:transition>
    </mc:Choice>
    <mc:Fallback>
      <p:transition spd="slow" advTm="1680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Slate-V2-SD-vert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44987" y="609923"/>
            <a:ext cx="3428146" cy="520547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7" y="609923"/>
            <a:ext cx="3924676" cy="1829338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976728" y="743989"/>
            <a:ext cx="3165375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7" y="2439261"/>
            <a:ext cx="3924676" cy="337613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4993901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 advTm="1680">
        <p15:prstTrans prst="pageCurlDouble"/>
      </p:transition>
    </mc:Choice>
    <mc:Fallback>
      <p:transition spd="slow" advTm="1680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Slate-V2-SD-pano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995" y="540085"/>
            <a:ext cx="7656010" cy="383437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54" y="4565255"/>
            <a:ext cx="7766495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26217" y="695010"/>
            <a:ext cx="7285600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6" y="5108728"/>
            <a:ext cx="7765322" cy="682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4799670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 advTm="1680">
        <p15:prstTrans prst="pageCurlDouble"/>
      </p:transition>
    </mc:Choice>
    <mc:Fallback>
      <p:transition spd="slow" advTm="1680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6" y="608437"/>
            <a:ext cx="7765322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6" y="4295180"/>
            <a:ext cx="7765322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5200350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 advTm="1680">
        <p15:prstTrans prst="pageCurlDouble"/>
      </p:transition>
    </mc:Choice>
    <mc:Fallback>
      <p:transition spd="slow" advTm="1680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659" y="609600"/>
            <a:ext cx="6977064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290484" y="3610033"/>
            <a:ext cx="6564224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6" y="4304353"/>
            <a:ext cx="7765322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627459" y="873912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28359" y="2933245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630747843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 advTm="1680">
        <p15:prstTrans prst="pageCurlDouble"/>
      </p:transition>
    </mc:Choice>
    <mc:Fallback>
      <p:transition spd="slow" advTm="1680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6" y="2126943"/>
            <a:ext cx="7765322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39" y="4650556"/>
            <a:ext cx="776414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3817311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 advTm="1680">
        <p15:prstTrans prst="pageCurlDouble"/>
      </p:transition>
    </mc:Choice>
    <mc:Fallback>
      <p:transition spd="slow" advTm="1680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85346" y="609600"/>
            <a:ext cx="7765322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346" y="1885950"/>
            <a:ext cx="2475738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346" y="2571750"/>
            <a:ext cx="2475738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35033" y="1885950"/>
            <a:ext cx="2475738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331076" y="2571750"/>
            <a:ext cx="2475738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74929" y="1885950"/>
            <a:ext cx="2475738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74929" y="2571750"/>
            <a:ext cx="2475738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7213341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 advTm="1680">
        <p15:prstTrans prst="pageCurlDouble"/>
      </p:transition>
    </mc:Choice>
    <mc:Fallback>
      <p:transition spd="slow" advTm="1680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Slate-V2-S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9239" y="1826045"/>
            <a:ext cx="2529046" cy="1833558"/>
          </a:xfrm>
          <a:prstGeom prst="rect">
            <a:avLst/>
          </a:prstGeom>
        </p:spPr>
      </p:pic>
      <p:pic>
        <p:nvPicPr>
          <p:cNvPr id="28" name="Picture 27" descr="Slate-V2-S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93813" y="1826045"/>
            <a:ext cx="2529046" cy="1833558"/>
          </a:xfrm>
          <a:prstGeom prst="rect">
            <a:avLst/>
          </a:prstGeom>
        </p:spPr>
      </p:pic>
      <p:pic>
        <p:nvPicPr>
          <p:cNvPr id="29" name="Picture 28" descr="Slate-V2-S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21715" y="1826045"/>
            <a:ext cx="2529046" cy="1833558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5346" y="609600"/>
            <a:ext cx="7765322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5346" y="3904106"/>
            <a:ext cx="2475738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763577" y="1938918"/>
            <a:ext cx="2319276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5346" y="4480369"/>
            <a:ext cx="2475738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32091" y="3904106"/>
            <a:ext cx="2475738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409307" y="1939094"/>
            <a:ext cx="2319276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331075" y="4480368"/>
            <a:ext cx="2476753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75023" y="3904106"/>
            <a:ext cx="2475738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6056774" y="1934432"/>
            <a:ext cx="2319276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74929" y="4480366"/>
            <a:ext cx="2475738" cy="131083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1597340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 advTm="1680">
        <p15:prstTrans prst="pageCurlDouble"/>
      </p:transition>
    </mc:Choice>
    <mc:Fallback>
      <p:transition spd="slow" advTm="1680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8607245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 advTm="1680">
        <p15:prstTrans prst="pageCurlDouble"/>
      </p:transition>
    </mc:Choice>
    <mc:Fallback>
      <p:transition spd="slow" advTm="1680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37302" y="609600"/>
            <a:ext cx="1713365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347" y="609600"/>
            <a:ext cx="5937654" cy="5181601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850394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 advTm="1680">
        <p15:prstTrans prst="pageCurlDouble"/>
      </p:transition>
    </mc:Choice>
    <mc:Fallback>
      <p:transition spd="slow" advTm="1680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346" y="609600"/>
            <a:ext cx="7765322" cy="97045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346" y="1732450"/>
            <a:ext cx="7765322" cy="4058751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759052" y="5883276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5BCAD085-E8A6-8845-BD4E-CB4CCA059FC4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347" y="5883276"/>
            <a:ext cx="500464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885509" y="5883276"/>
            <a:ext cx="56515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764918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4174" r:id="rId1"/>
    <p:sldLayoutId id="2147484175" r:id="rId2"/>
    <p:sldLayoutId id="2147484176" r:id="rId3"/>
    <p:sldLayoutId id="2147484177" r:id="rId4"/>
    <p:sldLayoutId id="2147484178" r:id="rId5"/>
    <p:sldLayoutId id="2147484179" r:id="rId6"/>
    <p:sldLayoutId id="2147484180" r:id="rId7"/>
    <p:sldLayoutId id="2147484181" r:id="rId8"/>
    <p:sldLayoutId id="2147484182" r:id="rId9"/>
    <p:sldLayoutId id="2147484183" r:id="rId10"/>
    <p:sldLayoutId id="2147484184" r:id="rId11"/>
    <p:sldLayoutId id="2147484185" r:id="rId12"/>
    <p:sldLayoutId id="2147484186" r:id="rId13"/>
    <p:sldLayoutId id="2147484187" r:id="rId14"/>
    <p:sldLayoutId id="2147484188" r:id="rId15"/>
    <p:sldLayoutId id="2147484189" r:id="rId16"/>
    <p:sldLayoutId id="2147484190" r:id="rId17"/>
  </p:sldLayoutIdLst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 advTm="1680">
        <p15:prstTrans prst="pageCurlDouble"/>
      </p:transition>
    </mc:Choice>
    <mc:Fallback>
      <p:transition spd="slow" advTm="1680">
        <p:fade/>
      </p:transition>
    </mc:Fallback>
  </mc:AlternateContent>
  <p:txStyles>
    <p:titleStyle>
      <a:lvl1pPr algn="ctr" defTabSz="457200" rtl="0" eaLnBrk="1" latinLnBrk="0" hangingPunct="1">
        <a:spcBef>
          <a:spcPct val="0"/>
        </a:spcBef>
        <a:buNone/>
        <a:defRPr sz="4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47871" y="729342"/>
            <a:ext cx="8042906" cy="2366865"/>
          </a:xfrm>
        </p:spPr>
        <p:txBody>
          <a:bodyPr>
            <a:normAutofit/>
          </a:bodyPr>
          <a:lstStyle/>
          <a:p>
            <a:r>
              <a:rPr lang="en-US" b="1" dirty="0"/>
              <a:t>Gemini CLI Tutorial Series —   Part 1</a:t>
            </a:r>
            <a:endParaRPr b="1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80930" y="3429001"/>
            <a:ext cx="6326155" cy="2430624"/>
          </a:xfrm>
        </p:spPr>
        <p:txBody>
          <a:bodyPr>
            <a:normAutofit/>
          </a:bodyPr>
          <a:lstStyle/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Installation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Setup 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First app using AI</a:t>
            </a:r>
            <a:endParaRPr lang="en-US" dirty="0"/>
          </a:p>
          <a:p>
            <a:pPr algn="ctr"/>
            <a:r>
              <a:rPr lang="en-US" dirty="0"/>
              <a:t>Prepared </a:t>
            </a:r>
            <a:r>
              <a:rPr dirty="0"/>
              <a:t>By</a:t>
            </a:r>
            <a:endParaRPr lang="en-US" dirty="0"/>
          </a:p>
          <a:p>
            <a:pPr algn="ctr"/>
            <a:r>
              <a:rPr lang="en-US" dirty="0"/>
              <a:t> Zakia Bashir </a:t>
            </a:r>
            <a:endParaRPr dirty="0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 advTm="1371">
        <p15:prstTrans prst="pageCurlDouble"/>
      </p:transition>
    </mc:Choice>
    <mc:Fallback>
      <p:transition spd="slow" advTm="1371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5882" y="930111"/>
            <a:ext cx="8229600" cy="1143000"/>
          </a:xfrm>
        </p:spPr>
        <p:txBody>
          <a:bodyPr>
            <a:noAutofit/>
          </a:bodyPr>
          <a:lstStyle/>
          <a:p>
            <a:r>
              <a:rPr lang="en-US" b="1" dirty="0"/>
              <a:t>🎞️ What This Session Covers?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03649" y="2355981"/>
            <a:ext cx="6736701" cy="357190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/>
              <a:t>This Session Covers the following topics:</a:t>
            </a:r>
          </a:p>
          <a:p>
            <a:pPr indent="-342900">
              <a:buFont typeface="Wingdings" panose="05000000000000000000" pitchFamily="2" charset="2"/>
              <a:buChar char="q"/>
            </a:pPr>
            <a:r>
              <a:rPr lang="en-US" sz="2400" dirty="0"/>
              <a:t>Install Gemini CLI</a:t>
            </a:r>
          </a:p>
          <a:p>
            <a:pPr indent="-342900">
              <a:buFont typeface="Wingdings" panose="05000000000000000000" pitchFamily="2" charset="2"/>
              <a:buChar char="q"/>
            </a:pPr>
            <a:r>
              <a:rPr lang="en-US" sz="2400" dirty="0"/>
              <a:t> Authenticate &amp; choose themes</a:t>
            </a:r>
          </a:p>
          <a:p>
            <a:pPr indent="-342900">
              <a:buFont typeface="Wingdings" panose="05000000000000000000" pitchFamily="2" charset="2"/>
              <a:buChar char="q"/>
            </a:pPr>
            <a:r>
              <a:rPr lang="en-US" sz="2400" dirty="0"/>
              <a:t>Explore tools + shell mode</a:t>
            </a:r>
          </a:p>
          <a:p>
            <a:pPr indent="-342900">
              <a:buFont typeface="Wingdings" panose="05000000000000000000" pitchFamily="2" charset="2"/>
              <a:buChar char="q"/>
            </a:pPr>
            <a:r>
              <a:rPr lang="en-US" sz="2400" dirty="0"/>
              <a:t>Understand the project workflow</a:t>
            </a:r>
          </a:p>
          <a:p>
            <a:pPr indent="-342900">
              <a:buFont typeface="Wingdings" panose="05000000000000000000" pitchFamily="2" charset="2"/>
              <a:buChar char="q"/>
            </a:pPr>
            <a:r>
              <a:rPr lang="en-US" sz="2400" dirty="0"/>
              <a:t>Build a fully working Flask app</a:t>
            </a:r>
          </a:p>
          <a:p>
            <a:pPr indent="-342900">
              <a:buSzPct val="100000"/>
              <a:buFont typeface="Wingdings" panose="05000000000000000000" pitchFamily="2" charset="2"/>
              <a:buChar char="ü"/>
            </a:pPr>
            <a:r>
              <a:rPr lang="en-US" sz="2400" b="1" dirty="0"/>
              <a:t>All inside the CLI using AI</a:t>
            </a:r>
            <a:endParaRPr lang="en-US" sz="2400" dirty="0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 advTm="1893">
        <p15:prstTrans prst="pageCurlDouble"/>
      </p:transition>
    </mc:Choice>
    <mc:Fallback>
      <p:transition spd="slow" advTm="1893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591070-4953-545B-6891-45C55BC7EE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392BB5-404A-42A6-EB19-B374C35748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0190" y="1016299"/>
            <a:ext cx="6377940" cy="1293028"/>
          </a:xfrm>
        </p:spPr>
        <p:txBody>
          <a:bodyPr/>
          <a:lstStyle/>
          <a:p>
            <a:r>
              <a:rPr lang="en-US" b="1" dirty="0"/>
              <a:t>🎞️ What Gemini CLI Is?</a:t>
            </a:r>
            <a:endParaRPr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0C347B-7B2F-39B7-6048-646CD2E88D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4989" y="2366905"/>
            <a:ext cx="7551264" cy="3942183"/>
          </a:xfrm>
        </p:spPr>
        <p:txBody>
          <a:bodyPr>
            <a:normAutofit/>
          </a:bodyPr>
          <a:lstStyle/>
          <a:p>
            <a:r>
              <a:rPr lang="en-US" sz="2400" b="1" dirty="0"/>
              <a:t>Gemini CLI = A terminal-based AI Agent that can:</a:t>
            </a:r>
            <a:br>
              <a:rPr lang="en-US" sz="2400" b="1" dirty="0"/>
            </a:br>
            <a:r>
              <a:rPr lang="en-US" sz="2400" dirty="0"/>
              <a:t>■ Create files</a:t>
            </a:r>
            <a:br>
              <a:rPr lang="en-US" sz="2400" dirty="0"/>
            </a:br>
            <a:r>
              <a:rPr lang="en-US" sz="2400" dirty="0"/>
              <a:t>■ Modify code</a:t>
            </a:r>
            <a:br>
              <a:rPr lang="en-US" sz="2400" dirty="0"/>
            </a:br>
            <a:r>
              <a:rPr lang="en-US" sz="2400" dirty="0"/>
              <a:t>■ Run commands</a:t>
            </a:r>
            <a:br>
              <a:rPr lang="en-US" sz="2400" dirty="0"/>
            </a:br>
            <a:r>
              <a:rPr lang="en-US" sz="2400" dirty="0"/>
              <a:t>■ Install packages</a:t>
            </a:r>
            <a:br>
              <a:rPr lang="en-US" sz="2400" dirty="0"/>
            </a:br>
            <a:r>
              <a:rPr lang="en-US" sz="2400" dirty="0"/>
              <a:t>■ Build apps end-to-end</a:t>
            </a:r>
            <a:br>
              <a:rPr lang="en-US" sz="2400" dirty="0"/>
            </a:br>
            <a:r>
              <a:rPr lang="en-US" sz="2400" dirty="0"/>
              <a:t>✔ Always with your permission</a:t>
            </a:r>
          </a:p>
        </p:txBody>
      </p:sp>
    </p:spTree>
    <p:extLst>
      <p:ext uri="{BB962C8B-B14F-4D97-AF65-F5344CB8AC3E}">
        <p14:creationId xmlns:p14="http://schemas.microsoft.com/office/powerpoint/2010/main" val="876037604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 advTm="1631">
        <p15:prstTrans prst="pageCurlDouble"/>
      </p:transition>
    </mc:Choice>
    <mc:Fallback>
      <p:transition spd="slow" advTm="1631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1639" y="753228"/>
            <a:ext cx="6896534" cy="1080938"/>
          </a:xfrm>
        </p:spPr>
        <p:txBody>
          <a:bodyPr/>
          <a:lstStyle/>
          <a:p>
            <a:r>
              <a:rPr lang="en-US" b="1" dirty="0"/>
              <a:t>🎞️ Requirements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15280" y="2336801"/>
            <a:ext cx="6212633" cy="3448180"/>
          </a:xfrm>
        </p:spPr>
        <p:txBody>
          <a:bodyPr>
            <a:normAutofit/>
          </a:bodyPr>
          <a:lstStyle/>
          <a:p>
            <a:r>
              <a:rPr lang="en-US" sz="2400" dirty="0"/>
              <a:t> Node.js v25.2.0</a:t>
            </a:r>
          </a:p>
          <a:p>
            <a:r>
              <a:rPr lang="en-US" sz="2400" dirty="0"/>
              <a:t> Gemini CLI v0.17.0</a:t>
            </a:r>
          </a:p>
          <a:p>
            <a:r>
              <a:rPr lang="en-US" sz="2400" dirty="0"/>
              <a:t> Google Login or API Key</a:t>
            </a:r>
          </a:p>
          <a:p>
            <a:pPr marL="450000" lvl="1" indent="0">
              <a:buNone/>
            </a:pPr>
            <a:r>
              <a:rPr lang="en-US" sz="2400" dirty="0"/>
              <a:t>– 60 req/min</a:t>
            </a:r>
          </a:p>
          <a:p>
            <a:pPr marL="450000" lvl="1" indent="0">
              <a:buNone/>
            </a:pPr>
            <a:r>
              <a:rPr lang="en-US" sz="2400" dirty="0"/>
              <a:t>– 1000 req/day (free tier)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 advTm="1589">
        <p15:prstTrans prst="pageCurlDouble"/>
      </p:transition>
    </mc:Choice>
    <mc:Fallback>
      <p:transition spd="slow" advTm="1589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6" y="609600"/>
            <a:ext cx="7765322" cy="970450"/>
          </a:xfrm>
        </p:spPr>
        <p:txBody>
          <a:bodyPr/>
          <a:lstStyle/>
          <a:p>
            <a:r>
              <a:rPr lang="en-US" b="1" dirty="0"/>
              <a:t>🎞️ Installing Gemini CLI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1363" y="2120318"/>
            <a:ext cx="6853335" cy="4059237"/>
          </a:xfrm>
        </p:spPr>
        <p:txBody>
          <a:bodyPr>
            <a:noAutofit/>
          </a:bodyPr>
          <a:lstStyle/>
          <a:p>
            <a:r>
              <a:rPr lang="en-US" sz="2400" b="1" dirty="0"/>
              <a:t>Installing Gemini CLI command: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400" dirty="0"/>
              <a:t>npm install -g @google/gemini-cli</a:t>
            </a:r>
          </a:p>
          <a:p>
            <a:r>
              <a:rPr lang="en-US" sz="2400" b="1" dirty="0"/>
              <a:t>After installation: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400" dirty="0" err="1"/>
              <a:t>gemini</a:t>
            </a:r>
            <a:r>
              <a:rPr lang="en-US" sz="2400" dirty="0"/>
              <a:t> –version or </a:t>
            </a:r>
            <a:r>
              <a:rPr lang="en-US" sz="2400" dirty="0" err="1"/>
              <a:t>gemini</a:t>
            </a:r>
            <a:r>
              <a:rPr lang="en-US" sz="2400" dirty="0"/>
              <a:t> -v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400" dirty="0" err="1"/>
              <a:t>gemini</a:t>
            </a:r>
            <a:r>
              <a:rPr lang="en-US" sz="2400" dirty="0"/>
              <a:t> --help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 advTm="1401">
        <p15:prstTrans prst="pageCurlDouble"/>
      </p:transition>
    </mc:Choice>
    <mc:Fallback>
      <p:transition spd="slow" advTm="1401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A3C5A6-2B08-88F5-FA28-935EFB3072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56F3E2-1881-0892-70EC-2E23F0705E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/>
              <a:t>🎞️ Authentication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1E6D6E-7CDE-4848-12DD-3F5A1AE3F4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90620" y="2009225"/>
            <a:ext cx="7189690" cy="2988840"/>
          </a:xfrm>
        </p:spPr>
        <p:txBody>
          <a:bodyPr>
            <a:normAutofit/>
          </a:bodyPr>
          <a:lstStyle/>
          <a:p>
            <a:pPr lvl="1"/>
            <a:r>
              <a:rPr lang="en-US" sz="2400" b="1" dirty="0"/>
              <a:t>Login using Google:</a:t>
            </a:r>
          </a:p>
          <a:p>
            <a:pPr lvl="2">
              <a:buFont typeface="Wingdings" panose="05000000000000000000" pitchFamily="2" charset="2"/>
              <a:buChar char="Ø"/>
            </a:pPr>
            <a:r>
              <a:rPr lang="en-US" sz="2200" dirty="0" err="1"/>
              <a:t>gemini</a:t>
            </a:r>
            <a:r>
              <a:rPr lang="en-US" sz="2200" dirty="0"/>
              <a:t> login</a:t>
            </a:r>
          </a:p>
          <a:p>
            <a:pPr lvl="1"/>
            <a:r>
              <a:rPr lang="en-US" sz="2400" dirty="0"/>
              <a:t>Choose your environment (dark/light)</a:t>
            </a:r>
          </a:p>
          <a:p>
            <a:pPr lvl="1"/>
            <a:r>
              <a:rPr lang="en-US" sz="2400" dirty="0"/>
              <a:t>Use test mode or default mode</a:t>
            </a:r>
          </a:p>
        </p:txBody>
      </p:sp>
    </p:spTree>
    <p:extLst>
      <p:ext uri="{BB962C8B-B14F-4D97-AF65-F5344CB8AC3E}">
        <p14:creationId xmlns:p14="http://schemas.microsoft.com/office/powerpoint/2010/main" val="1872773583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 advTm="1047">
        <p15:prstTrans prst="pageCurlDouble"/>
      </p:transition>
    </mc:Choice>
    <mc:Fallback>
      <p:transition spd="slow" advTm="1047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17A431-C649-021E-6A4F-D81CF3CAD4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44B0A3-82A0-02D5-A06B-0022992E5B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346" y="609600"/>
            <a:ext cx="7765322" cy="970450"/>
          </a:xfrm>
        </p:spPr>
        <p:txBody>
          <a:bodyPr>
            <a:normAutofit/>
          </a:bodyPr>
          <a:lstStyle/>
          <a:p>
            <a:r>
              <a:rPr lang="en-US" b="1" dirty="0"/>
              <a:t>🎞️ Understanding the Interface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1C6FC3-5CEC-370F-F181-76979CCCB1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7686" y="1915045"/>
            <a:ext cx="6834673" cy="4059237"/>
          </a:xfrm>
        </p:spPr>
        <p:txBody>
          <a:bodyPr>
            <a:normAutofit/>
          </a:bodyPr>
          <a:lstStyle/>
          <a:p>
            <a:r>
              <a:rPr lang="en-US" sz="2400" b="1" dirty="0"/>
              <a:t>The CLI gives you access to: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/>
              <a:t> </a:t>
            </a:r>
            <a:r>
              <a:rPr lang="en-US" sz="2400" dirty="0"/>
              <a:t>Agent Commands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400" dirty="0"/>
              <a:t> Shell Mode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400" dirty="0"/>
              <a:t> Project Workspace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400" dirty="0"/>
              <a:t>AI Instructions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400" dirty="0"/>
              <a:t>Automatic Code Generation</a:t>
            </a:r>
          </a:p>
        </p:txBody>
      </p:sp>
    </p:spTree>
    <p:extLst>
      <p:ext uri="{BB962C8B-B14F-4D97-AF65-F5344CB8AC3E}">
        <p14:creationId xmlns:p14="http://schemas.microsoft.com/office/powerpoint/2010/main" val="3428795524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 advTm="845">
        <p15:prstTrans prst="pageCurlDouble"/>
      </p:transition>
    </mc:Choice>
    <mc:Fallback>
      <p:transition spd="slow" advTm="845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226609-2629-A8F3-F186-3619579170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B66124-0379-DE2D-AA2F-1B457E4881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1639" y="753228"/>
            <a:ext cx="6896534" cy="1080938"/>
          </a:xfrm>
        </p:spPr>
        <p:txBody>
          <a:bodyPr/>
          <a:lstStyle/>
          <a:p>
            <a:r>
              <a:rPr lang="en-US" b="1" dirty="0"/>
              <a:t>🎞️ Creating a New Project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F5E4F9-BF2D-C41E-527B-FEB5845F83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99930" y="2131526"/>
            <a:ext cx="6888163" cy="3598863"/>
          </a:xfrm>
        </p:spPr>
        <p:txBody>
          <a:bodyPr>
            <a:normAutofit/>
          </a:bodyPr>
          <a:lstStyle/>
          <a:p>
            <a:r>
              <a:rPr lang="en-US" sz="2400" b="1" dirty="0"/>
              <a:t>Creating a New Project</a:t>
            </a:r>
          </a:p>
          <a:p>
            <a:pPr lvl="1"/>
            <a:r>
              <a:rPr lang="en-US" sz="2200" b="1" dirty="0"/>
              <a:t> command</a:t>
            </a:r>
          </a:p>
          <a:p>
            <a:pPr lvl="2">
              <a:buFont typeface="Wingdings" panose="05000000000000000000" pitchFamily="2" charset="2"/>
              <a:buChar char="Ø"/>
            </a:pPr>
            <a:r>
              <a:rPr lang="en-US" sz="2200" dirty="0" err="1"/>
              <a:t>gemini</a:t>
            </a:r>
            <a:r>
              <a:rPr lang="en-US" sz="2200" dirty="0"/>
              <a:t> create my-flask-app</a:t>
            </a:r>
          </a:p>
          <a:p>
            <a:r>
              <a:rPr lang="en-US" sz="2400" b="1" dirty="0"/>
              <a:t>AI will ask: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400" dirty="0"/>
              <a:t>Which framework?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400" dirty="0"/>
              <a:t>What features to include?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400" dirty="0"/>
              <a:t> What packages to install?</a:t>
            </a:r>
          </a:p>
        </p:txBody>
      </p:sp>
    </p:spTree>
    <p:extLst>
      <p:ext uri="{BB962C8B-B14F-4D97-AF65-F5344CB8AC3E}">
        <p14:creationId xmlns:p14="http://schemas.microsoft.com/office/powerpoint/2010/main" val="4011729092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 advTm="860">
        <p15:prstTrans prst="pageCurlDouble"/>
      </p:transition>
    </mc:Choice>
    <mc:Fallback>
      <p:transition spd="slow" advTm="860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720694-205F-29FC-FC61-CA8DF2C496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9BD7B0-03C4-E1E0-553F-E8D41AA465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1639" y="753228"/>
            <a:ext cx="6896534" cy="1080938"/>
          </a:xfrm>
        </p:spPr>
        <p:txBody>
          <a:bodyPr/>
          <a:lstStyle/>
          <a:p>
            <a:r>
              <a:rPr lang="en-US" b="1" dirty="0"/>
              <a:t>🎞️ Adding Features Using AI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938B05-F8AB-478B-FB5C-97E283BED5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06625" y="2234163"/>
            <a:ext cx="6888163" cy="3598863"/>
          </a:xfrm>
        </p:spPr>
        <p:txBody>
          <a:bodyPr>
            <a:normAutofit/>
          </a:bodyPr>
          <a:lstStyle/>
          <a:p>
            <a:r>
              <a:rPr lang="en-US" sz="2400" b="1" dirty="0"/>
              <a:t>Examples</a:t>
            </a:r>
            <a:r>
              <a:rPr lang="en-US" sz="2400" dirty="0"/>
              <a:t>:</a:t>
            </a:r>
            <a:br>
              <a:rPr lang="en-US" sz="2400" dirty="0"/>
            </a:br>
            <a:r>
              <a:rPr lang="en-US" sz="2400" dirty="0"/>
              <a:t>“Add a new route to show current time.”</a:t>
            </a:r>
            <a:br>
              <a:rPr lang="en-US" sz="2400" dirty="0"/>
            </a:br>
            <a:r>
              <a:rPr lang="en-US" sz="2400" dirty="0"/>
              <a:t>“Create a template file with Bootstrap UI.”</a:t>
            </a:r>
            <a:br>
              <a:rPr lang="en-US" sz="2400" dirty="0"/>
            </a:br>
            <a:r>
              <a:rPr lang="en-US" sz="2400" dirty="0"/>
              <a:t>“Install Flask CORS.”</a:t>
            </a:r>
          </a:p>
          <a:p>
            <a:r>
              <a:rPr lang="en-US" sz="2400" dirty="0"/>
              <a:t>Gemini CLI writes all code + explanations.</a:t>
            </a:r>
          </a:p>
        </p:txBody>
      </p:sp>
    </p:spTree>
    <p:extLst>
      <p:ext uri="{BB962C8B-B14F-4D97-AF65-F5344CB8AC3E}">
        <p14:creationId xmlns:p14="http://schemas.microsoft.com/office/powerpoint/2010/main" val="749441471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 advTm="1667">
        <p15:prstTrans prst="pageCurlDouble"/>
      </p:transition>
    </mc:Choice>
    <mc:Fallback>
      <p:transition spd="slow" advTm="1667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8CE109-AF49-6E6F-C75E-02A3D89A8E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E4407B-91E0-DC46-BE56-4A2EEB40D3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🎞️ Running the App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62B06B-3ACB-6CF0-2484-DA090088D3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40504" y="1825757"/>
            <a:ext cx="7255005" cy="405875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b="1" dirty="0"/>
              <a:t>Running the App: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400" b="1" dirty="0"/>
              <a:t>Commands: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400" dirty="0"/>
              <a:t>cd my-flask-app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400" dirty="0"/>
              <a:t>python app.py</a:t>
            </a:r>
          </a:p>
          <a:p>
            <a:pPr marL="0" indent="0">
              <a:buNone/>
            </a:pPr>
            <a:r>
              <a:rPr lang="en-US" sz="2400" dirty="0"/>
              <a:t>The app runs instantly — created end-to-end by the AI agent.</a:t>
            </a:r>
          </a:p>
        </p:txBody>
      </p:sp>
    </p:spTree>
    <p:extLst>
      <p:ext uri="{BB962C8B-B14F-4D97-AF65-F5344CB8AC3E}">
        <p14:creationId xmlns:p14="http://schemas.microsoft.com/office/powerpoint/2010/main" val="460383651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 advTm="1295">
        <p15:prstTrans prst="pageCurlDouble"/>
      </p:transition>
    </mc:Choice>
    <mc:Fallback>
      <p:transition spd="slow" advTm="1295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B7933B-29AE-713C-7858-516C350D9B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br>
              <a:rPr lang="en-US" b="1" dirty="0"/>
            </a:br>
            <a:r>
              <a:rPr lang="en-US" b="1" dirty="0"/>
              <a:t>🎞️ Behind the Scenes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47FE0A-3322-F851-33AD-A3EE8299FE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1207" y="1891070"/>
            <a:ext cx="6536548" cy="4058751"/>
          </a:xfrm>
        </p:spPr>
        <p:txBody>
          <a:bodyPr/>
          <a:lstStyle/>
          <a:p>
            <a:pPr>
              <a:buFont typeface="Wingdings" panose="05000000000000000000" pitchFamily="2" charset="2"/>
              <a:buChar char="v"/>
            </a:pPr>
            <a:r>
              <a:rPr lang="en-US" sz="2800" b="1" dirty="0"/>
              <a:t>Gemini CLI handles: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400" dirty="0"/>
              <a:t>File generation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400" dirty="0"/>
              <a:t>Folder structure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400" dirty="0"/>
              <a:t>Logic implementation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400" dirty="0"/>
              <a:t>Libraries installation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400" dirty="0"/>
              <a:t>Environment setup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4514284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 advTm="1048">
        <p15:prstTrans prst="pageCurlDouble"/>
      </p:transition>
    </mc:Choice>
    <mc:Fallback>
      <p:transition spd="slow" advTm="1048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22D08F-F22A-9822-7ED6-D8AD0D914B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ADA8D2-9B84-4B62-5DC7-84EA176C51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🎞️ Developers Love Gemini CLI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ADBD02-78EA-1E2C-7D45-1C727068B6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10484" y="1788434"/>
            <a:ext cx="7115046" cy="4058751"/>
          </a:xfrm>
        </p:spPr>
        <p:txBody>
          <a:bodyPr/>
          <a:lstStyle/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800" b="1" dirty="0"/>
              <a:t>Why Developers Love Gemini CLI?</a:t>
            </a:r>
          </a:p>
          <a:p>
            <a:pPr marL="36900" indent="0">
              <a:buNone/>
            </a:pPr>
            <a:r>
              <a:rPr lang="en-US" sz="2400" dirty="0"/>
              <a:t>✨ Faster development</a:t>
            </a:r>
            <a:br>
              <a:rPr lang="en-US" sz="2400" dirty="0"/>
            </a:br>
            <a:r>
              <a:rPr lang="en-US" sz="2400" dirty="0"/>
              <a:t>✨ Zero setup errors</a:t>
            </a:r>
            <a:br>
              <a:rPr lang="en-US" sz="2400" dirty="0"/>
            </a:br>
            <a:r>
              <a:rPr lang="en-US" sz="2400" dirty="0"/>
              <a:t>✨ No copy-paste from ChatGPT</a:t>
            </a:r>
            <a:br>
              <a:rPr lang="en-US" sz="2400" dirty="0"/>
            </a:br>
            <a:r>
              <a:rPr lang="en-US" sz="2400" dirty="0"/>
              <a:t>✨ AI stays inside your terminal</a:t>
            </a:r>
            <a:br>
              <a:rPr lang="en-US" sz="2400" dirty="0"/>
            </a:br>
            <a:r>
              <a:rPr lang="en-US" sz="2400" dirty="0"/>
              <a:t>✨ Can build complete apps in minutes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873086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 advTm="1483">
        <p15:prstTrans prst="pageCurlDouble"/>
      </p:transition>
    </mc:Choice>
    <mc:Fallback>
      <p:transition spd="slow" advTm="1483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A13C46-96CA-4E4C-1BCB-E3F9B4887F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2ECF58-0937-5B7D-D07C-2CB27DB557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346" y="609600"/>
            <a:ext cx="7765322" cy="970450"/>
          </a:xfrm>
        </p:spPr>
        <p:txBody>
          <a:bodyPr>
            <a:normAutofit/>
          </a:bodyPr>
          <a:lstStyle/>
          <a:p>
            <a:r>
              <a:rPr lang="en-US" dirty="0"/>
              <a:t>🎞️ </a:t>
            </a:r>
            <a:r>
              <a:rPr lang="en-US" b="1" dirty="0"/>
              <a:t>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D8E195-7ABC-F996-F8ED-374E90E157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81323" y="1781305"/>
            <a:ext cx="6573416" cy="4059237"/>
          </a:xfrm>
        </p:spPr>
        <p:txBody>
          <a:bodyPr/>
          <a:lstStyle/>
          <a:p>
            <a:endParaRPr lang="en-US" dirty="0"/>
          </a:p>
          <a:p>
            <a:r>
              <a:rPr lang="en-US" sz="2800" b="1" dirty="0"/>
              <a:t>In Part 1, you learned:</a:t>
            </a:r>
            <a:br>
              <a:rPr lang="en-US" dirty="0"/>
            </a:br>
            <a:r>
              <a:rPr lang="en-US" sz="2400" dirty="0"/>
              <a:t>✔ Install &amp; authenticate Gemini CLI</a:t>
            </a:r>
            <a:br>
              <a:rPr lang="en-US" sz="2400" dirty="0"/>
            </a:br>
            <a:r>
              <a:rPr lang="en-US" sz="2400" dirty="0"/>
              <a:t>✔ Use AI commands</a:t>
            </a:r>
            <a:br>
              <a:rPr lang="en-US" sz="2400" dirty="0"/>
            </a:br>
            <a:r>
              <a:rPr lang="en-US" sz="2400" dirty="0"/>
              <a:t>✔ Understand workflow</a:t>
            </a:r>
            <a:br>
              <a:rPr lang="en-US" sz="2400" dirty="0"/>
            </a:br>
            <a:r>
              <a:rPr lang="en-US" sz="2400" dirty="0"/>
              <a:t>✔ Build a Flask app</a:t>
            </a:r>
            <a:br>
              <a:rPr lang="en-US" sz="2400" dirty="0"/>
            </a:br>
            <a:r>
              <a:rPr lang="en-US" sz="2400" dirty="0"/>
              <a:t>✔ Run it locally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9360603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 advTm="518">
        <p15:prstTrans prst="pageCurlDouble"/>
      </p:transition>
    </mc:Choice>
    <mc:Fallback>
      <p:transition spd="slow" advTm="518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071EE4-515E-17EA-8E7C-2C52D2D8C3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445260-071C-C82D-BBE4-E7CA90381D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🎞️ What’s Coming in Part 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025A93-A8DE-06E4-8B3D-94DFF77D40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3690" y="1722437"/>
            <a:ext cx="6848669" cy="4525963"/>
          </a:xfrm>
        </p:spPr>
        <p:txBody>
          <a:bodyPr/>
          <a:lstStyle/>
          <a:p>
            <a:pPr marL="0" indent="0">
              <a:buNone/>
            </a:pPr>
            <a:endParaRPr lang="en-US" sz="2000" dirty="0"/>
          </a:p>
          <a:p>
            <a:r>
              <a:rPr lang="en-US" sz="2800" b="1" dirty="0"/>
              <a:t>Next</a:t>
            </a:r>
            <a:r>
              <a:rPr lang="en-US" sz="2400" dirty="0"/>
              <a:t>:</a:t>
            </a:r>
            <a:br>
              <a:rPr lang="en-US" sz="2400" dirty="0"/>
            </a:br>
            <a:r>
              <a:rPr lang="en-US" sz="2400" dirty="0"/>
              <a:t>🚀 Building an API</a:t>
            </a:r>
            <a:br>
              <a:rPr lang="en-US" sz="2400" dirty="0"/>
            </a:br>
            <a:r>
              <a:rPr lang="en-US" sz="2400" dirty="0"/>
              <a:t>🚀 Adding database</a:t>
            </a:r>
            <a:br>
              <a:rPr lang="en-US" sz="2400" dirty="0"/>
            </a:br>
            <a:r>
              <a:rPr lang="en-US" sz="2400" dirty="0"/>
              <a:t>🚀 Authentication</a:t>
            </a:r>
            <a:br>
              <a:rPr lang="en-US" sz="2400" dirty="0"/>
            </a:br>
            <a:r>
              <a:rPr lang="en-US" sz="2400" dirty="0"/>
              <a:t>🚀 Frontend integration</a:t>
            </a:r>
            <a:br>
              <a:rPr lang="en-US" sz="2400" dirty="0"/>
            </a:br>
            <a:r>
              <a:rPr lang="en-US" sz="2400" dirty="0"/>
              <a:t>🚀 Full-stack AI-generated app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6220934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 advTm="1505">
        <p15:prstTrans prst="pageCurlDouble"/>
      </p:transition>
    </mc:Choice>
    <mc:Fallback>
      <p:transition spd="slow" advTm="1505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E524B9-8275-F299-E7EF-A795EA0052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4318" y="205273"/>
            <a:ext cx="6512768" cy="6204857"/>
          </a:xfrm>
        </p:spPr>
        <p:txBody>
          <a:bodyPr/>
          <a:lstStyle/>
          <a:p>
            <a:r>
              <a:rPr lang="en-US" b="1" dirty="0"/>
              <a:t>🙏 </a:t>
            </a:r>
            <a:br>
              <a:rPr lang="en-US" b="1" dirty="0"/>
            </a:br>
            <a:r>
              <a:rPr lang="en-US" b="1" dirty="0"/>
              <a:t>THANKS FOR WATCHING</a:t>
            </a:r>
            <a:br>
              <a:rPr lang="en-US" b="1" dirty="0"/>
            </a:br>
            <a:r>
              <a:rPr lang="en-US" b="1" dirty="0"/>
              <a:t> 🌟</a:t>
            </a:r>
          </a:p>
        </p:txBody>
      </p:sp>
    </p:spTree>
    <p:extLst>
      <p:ext uri="{BB962C8B-B14F-4D97-AF65-F5344CB8AC3E}">
        <p14:creationId xmlns:p14="http://schemas.microsoft.com/office/powerpoint/2010/main" val="3274874387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 advTm="804">
        <p15:prstTrans prst="pageCurlDouble"/>
      </p:transition>
    </mc:Choice>
    <mc:Fallback>
      <p:transition spd="slow" advTm="804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late">
  <a:themeElements>
    <a:clrScheme name="Red">
      <a:dk1>
        <a:sysClr val="windowText" lastClr="000000"/>
      </a:dk1>
      <a:lt1>
        <a:sysClr val="window" lastClr="FFFFFF"/>
      </a:lt1>
      <a:dk2>
        <a:srgbClr val="323232"/>
      </a:dk2>
      <a:lt2>
        <a:srgbClr val="E5C243"/>
      </a:lt2>
      <a:accent1>
        <a:srgbClr val="A5300F"/>
      </a:accent1>
      <a:accent2>
        <a:srgbClr val="D55816"/>
      </a:accent2>
      <a:accent3>
        <a:srgbClr val="E19825"/>
      </a:accent3>
      <a:accent4>
        <a:srgbClr val="B19C7D"/>
      </a:accent4>
      <a:accent5>
        <a:srgbClr val="7F5F52"/>
      </a:accent5>
      <a:accent6>
        <a:srgbClr val="B27D49"/>
      </a:accent6>
      <a:hlink>
        <a:srgbClr val="6B9F25"/>
      </a:hlink>
      <a:folHlink>
        <a:srgbClr val="B26B02"/>
      </a:folHlink>
    </a:clrScheme>
    <a:fontScheme name="Slate">
      <a:maj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lat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" id="{C3F70B94-7CE9-428E-ADC1-3269CC2C3385}" vid="{FF747C5C-A8E8-4833-9E55-3D08FE4E487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TM04033929[[fn=Slate]]</Template>
  <TotalTime>2708</TotalTime>
  <Words>450</Words>
  <Application>Microsoft Office PowerPoint</Application>
  <PresentationFormat>On-screen Show (4:3)</PresentationFormat>
  <Paragraphs>79</Paragraphs>
  <Slides>15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2" baseType="lpstr">
      <vt:lpstr>Arial</vt:lpstr>
      <vt:lpstr>Calibri</vt:lpstr>
      <vt:lpstr>Calisto MT</vt:lpstr>
      <vt:lpstr>Trebuchet MS</vt:lpstr>
      <vt:lpstr>Wingdings</vt:lpstr>
      <vt:lpstr>Wingdings 2</vt:lpstr>
      <vt:lpstr>Slate</vt:lpstr>
      <vt:lpstr>Gemini CLI Tutorial Series —   Part 1</vt:lpstr>
      <vt:lpstr>🎞️ What This Session Covers?</vt:lpstr>
      <vt:lpstr>🎞️ What Gemini CLI Is?</vt:lpstr>
      <vt:lpstr>🎞️ Requirements</vt:lpstr>
      <vt:lpstr>🎞️ Installing Gemini CLI</vt:lpstr>
      <vt:lpstr>🎞️ Authentication</vt:lpstr>
      <vt:lpstr>🎞️ Understanding the Interface</vt:lpstr>
      <vt:lpstr>🎞️ Creating a New Project</vt:lpstr>
      <vt:lpstr>🎞️ Adding Features Using AI</vt:lpstr>
      <vt:lpstr>🎞️ Running the App</vt:lpstr>
      <vt:lpstr> 🎞️ Behind the Scenes </vt:lpstr>
      <vt:lpstr>🎞️ Developers Love Gemini CLI</vt:lpstr>
      <vt:lpstr>🎞️ Summary</vt:lpstr>
      <vt:lpstr>🎞️ What’s Coming in Part 2</vt:lpstr>
      <vt:lpstr>🙏  THANKS FOR WATCHING  🌟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User</dc:creator>
  <cp:keywords/>
  <dc:description>generated using python-pptx</dc:description>
  <cp:lastModifiedBy>bc160404395 Zakia Bashir</cp:lastModifiedBy>
  <cp:revision>5</cp:revision>
  <dcterms:created xsi:type="dcterms:W3CDTF">2013-01-27T09:14:16Z</dcterms:created>
  <dcterms:modified xsi:type="dcterms:W3CDTF">2025-11-21T22:33:11Z</dcterms:modified>
  <cp:category/>
</cp:coreProperties>
</file>