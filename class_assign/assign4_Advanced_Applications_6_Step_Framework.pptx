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3" r:id="rId1"/>
  </p:sldMasterIdLst>
  <p:sldIdLst>
    <p:sldId id="256" r:id="rId2"/>
    <p:sldId id="257" r:id="rId3"/>
    <p:sldId id="268" r:id="rId4"/>
    <p:sldId id="269" r:id="rId5"/>
    <p:sldId id="270" r:id="rId6"/>
    <p:sldId id="262" r:id="rId7"/>
    <p:sldId id="271" r:id="rId8"/>
    <p:sldId id="263" r:id="rId9"/>
    <p:sldId id="272" r:id="rId10"/>
    <p:sldId id="258" r:id="rId11"/>
    <p:sldId id="264" r:id="rId12"/>
    <p:sldId id="273" r:id="rId13"/>
    <p:sldId id="265" r:id="rId14"/>
    <p:sldId id="259" r:id="rId15"/>
    <p:sldId id="267" r:id="rId16"/>
    <p:sldId id="274" r:id="rId17"/>
    <p:sldId id="275" r:id="rId18"/>
    <p:sldId id="260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03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3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56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33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67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5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67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03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93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99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00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0747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17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13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97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07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0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49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  <p:sldLayoutId id="2147484177" r:id="rId4"/>
    <p:sldLayoutId id="2147484178" r:id="rId5"/>
    <p:sldLayoutId id="2147484179" r:id="rId6"/>
    <p:sldLayoutId id="2147484180" r:id="rId7"/>
    <p:sldLayoutId id="2147484181" r:id="rId8"/>
    <p:sldLayoutId id="2147484182" r:id="rId9"/>
    <p:sldLayoutId id="2147484183" r:id="rId10"/>
    <p:sldLayoutId id="2147484184" r:id="rId11"/>
    <p:sldLayoutId id="2147484185" r:id="rId12"/>
    <p:sldLayoutId id="2147484186" r:id="rId13"/>
    <p:sldLayoutId id="2147484187" r:id="rId14"/>
    <p:sldLayoutId id="2147484188" r:id="rId15"/>
    <p:sldLayoutId id="2147484189" r:id="rId16"/>
    <p:sldLayoutId id="2147484190" r:id="rId17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871" y="1197429"/>
            <a:ext cx="8042906" cy="3082212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Advanced Applications using the 6-Step Prompting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0931" y="4762500"/>
            <a:ext cx="2873828" cy="1097124"/>
          </a:xfrm>
        </p:spPr>
        <p:txBody>
          <a:bodyPr/>
          <a:lstStyle/>
          <a:p>
            <a:pPr algn="ctr"/>
            <a:r>
              <a:rPr lang="en-US" dirty="0"/>
              <a:t>Prepared </a:t>
            </a:r>
            <a:r>
              <a:rPr dirty="0"/>
              <a:t>By</a:t>
            </a:r>
            <a:endParaRPr lang="en-US" dirty="0"/>
          </a:p>
          <a:p>
            <a:pPr algn="ctr"/>
            <a:r>
              <a:rPr lang="en-US" dirty="0"/>
              <a:t> Zakia Bashir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424">
        <p:circle/>
      </p:transition>
    </mc:Choice>
    <mc:Fallback>
      <p:transition spd="slow" advTm="2424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3418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🔹The 6-Step Prompting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103" y="2417247"/>
            <a:ext cx="7455158" cy="3125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1️⃣ Context:</a:t>
            </a:r>
            <a:r>
              <a:rPr lang="en-US" dirty="0"/>
              <a:t> Define who, what, and why.</a:t>
            </a:r>
          </a:p>
          <a:p>
            <a:pPr marL="0" indent="0">
              <a:buNone/>
            </a:pPr>
            <a:r>
              <a:rPr lang="en-US" b="1" dirty="0"/>
              <a:t>2️⃣ Objective:</a:t>
            </a:r>
            <a:r>
              <a:rPr lang="en-US" dirty="0"/>
              <a:t> Clarify the exact goal.</a:t>
            </a:r>
          </a:p>
          <a:p>
            <a:pPr marL="0" indent="0">
              <a:buNone/>
            </a:pPr>
            <a:r>
              <a:rPr lang="en-US" b="1" dirty="0"/>
              <a:t>3️⃣ Constraints:</a:t>
            </a:r>
            <a:r>
              <a:rPr lang="en-US" dirty="0"/>
              <a:t> Set limitations, preferences, or conditions.</a:t>
            </a:r>
          </a:p>
          <a:p>
            <a:pPr marL="0" indent="0">
              <a:buNone/>
            </a:pPr>
            <a:r>
              <a:rPr lang="en-US" b="1" dirty="0"/>
              <a:t>4️⃣ Data/Inputs:</a:t>
            </a:r>
            <a:r>
              <a:rPr lang="en-US" dirty="0"/>
              <a:t> Provide known data or key details.</a:t>
            </a:r>
          </a:p>
          <a:p>
            <a:pPr marL="0" indent="0">
              <a:buNone/>
            </a:pPr>
            <a:r>
              <a:rPr lang="en-US" b="1" dirty="0"/>
              <a:t>5️⃣ Process:</a:t>
            </a:r>
            <a:r>
              <a:rPr lang="en-US" dirty="0"/>
              <a:t> Describe how to achieve the outcome.</a:t>
            </a:r>
          </a:p>
          <a:p>
            <a:pPr marL="0" indent="0">
              <a:buNone/>
            </a:pPr>
            <a:r>
              <a:rPr lang="en-US" b="1" dirty="0"/>
              <a:t>6️⃣ Output:</a:t>
            </a:r>
            <a:r>
              <a:rPr lang="en-US" dirty="0"/>
              <a:t> Specify the final deliverable format.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3035">
        <p:circle/>
      </p:transition>
    </mc:Choice>
    <mc:Fallback>
      <p:transition spd="slow" advTm="3035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91070-4953-545B-6891-45C55BC7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2BB5-404A-42A6-EB19-B374C3574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190" y="1016299"/>
            <a:ext cx="6377940" cy="1293028"/>
          </a:xfrm>
        </p:spPr>
        <p:txBody>
          <a:bodyPr/>
          <a:lstStyle/>
          <a:p>
            <a:pPr algn="ctr"/>
            <a:r>
              <a:rPr dirty="0"/>
              <a:t>1️⃣ Personal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C347B-7B2F-39B7-6048-646CD2E88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2483537"/>
            <a:ext cx="8229600" cy="3942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🥗 </a:t>
            </a:r>
            <a:r>
              <a:rPr lang="en-US" sz="2400" b="1" dirty="0"/>
              <a:t>Meal Planning:</a:t>
            </a:r>
          </a:p>
          <a:p>
            <a:r>
              <a:rPr lang="en-US" b="1" dirty="0"/>
              <a:t>Context:</a:t>
            </a:r>
            <a:r>
              <a:rPr lang="en-US" dirty="0"/>
              <a:t> Nutrition coach creating a 7-day meal plan for a 30-year-old office worker.</a:t>
            </a:r>
          </a:p>
          <a:p>
            <a:r>
              <a:rPr lang="en-US" b="1" dirty="0"/>
              <a:t> Objective:</a:t>
            </a:r>
            <a:r>
              <a:rPr lang="en-US" dirty="0"/>
              <a:t> Balanced, easy-to-cook meals under 2000 calories/day.</a:t>
            </a:r>
          </a:p>
          <a:p>
            <a:r>
              <a:rPr lang="en-US" b="1" dirty="0"/>
              <a:t>Constraints:</a:t>
            </a:r>
            <a:r>
              <a:rPr lang="en-US" dirty="0"/>
              <a:t> No seafood, budget-friendly, prep time ≤ 30 minutes.</a:t>
            </a:r>
          </a:p>
          <a:p>
            <a:r>
              <a:rPr lang="en-US" b="1" dirty="0"/>
              <a:t>Data/Inputs:</a:t>
            </a:r>
            <a:r>
              <a:rPr lang="en-US" dirty="0"/>
              <a:t> User prefers chicken, eggs, lentils, and fresh vegetables.</a:t>
            </a:r>
          </a:p>
        </p:txBody>
      </p:sp>
    </p:spTree>
    <p:extLst>
      <p:ext uri="{BB962C8B-B14F-4D97-AF65-F5344CB8AC3E}">
        <p14:creationId xmlns:p14="http://schemas.microsoft.com/office/powerpoint/2010/main" val="876037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231">
        <p:circle/>
      </p:transition>
    </mc:Choice>
    <mc:Fallback>
      <p:transition spd="slow" advTm="2231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3161-0E85-EE73-8BEF-1C8BCEE9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6367-865A-D04F-07F8-BB8E8C12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3108" y="950985"/>
            <a:ext cx="6377940" cy="1293028"/>
          </a:xfrm>
        </p:spPr>
        <p:txBody>
          <a:bodyPr/>
          <a:lstStyle/>
          <a:p>
            <a:pPr algn="ctr"/>
            <a:r>
              <a:rPr dirty="0"/>
              <a:t>1️⃣ Personal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61C7-7972-081E-33B0-17C31886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41" y="2090056"/>
            <a:ext cx="8444205" cy="4570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🥗 </a:t>
            </a:r>
            <a:r>
              <a:rPr lang="en-US" sz="2400" b="1" dirty="0"/>
              <a:t>Meal Planning:</a:t>
            </a:r>
          </a:p>
          <a:p>
            <a:r>
              <a:rPr lang="en-US" sz="1800" b="1" dirty="0"/>
              <a:t>Process: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1" dirty="0"/>
              <a:t> </a:t>
            </a:r>
            <a:r>
              <a:rPr lang="en-US" sz="1800" dirty="0"/>
              <a:t>Calculate daily macro balance (40% carbs, 30% protein, 30% fats).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Rotate proteins for variety.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/>
              <a:t>Include snacks &amp; hydration reminders.</a:t>
            </a:r>
          </a:p>
          <a:p>
            <a:r>
              <a:rPr lang="en-US" sz="1800" b="1" dirty="0"/>
              <a:t>Output:</a:t>
            </a:r>
          </a:p>
          <a:p>
            <a:pPr marL="0" indent="0">
              <a:buNone/>
            </a:pPr>
            <a:br>
              <a:rPr lang="en-US" sz="1800" dirty="0"/>
            </a:b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BCE56C-AFC9-6207-06FD-01C52930B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08379"/>
              </p:ext>
            </p:extLst>
          </p:nvPr>
        </p:nvGraphicFramePr>
        <p:xfrm>
          <a:off x="606491" y="4625180"/>
          <a:ext cx="7231230" cy="18511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05205">
                  <a:extLst>
                    <a:ext uri="{9D8B030D-6E8A-4147-A177-3AD203B41FA5}">
                      <a16:colId xmlns:a16="http://schemas.microsoft.com/office/drawing/2014/main" val="3451178332"/>
                    </a:ext>
                  </a:extLst>
                </a:gridCol>
                <a:gridCol w="1205205">
                  <a:extLst>
                    <a:ext uri="{9D8B030D-6E8A-4147-A177-3AD203B41FA5}">
                      <a16:colId xmlns:a16="http://schemas.microsoft.com/office/drawing/2014/main" val="1428142060"/>
                    </a:ext>
                  </a:extLst>
                </a:gridCol>
                <a:gridCol w="1205205">
                  <a:extLst>
                    <a:ext uri="{9D8B030D-6E8A-4147-A177-3AD203B41FA5}">
                      <a16:colId xmlns:a16="http://schemas.microsoft.com/office/drawing/2014/main" val="113626766"/>
                    </a:ext>
                  </a:extLst>
                </a:gridCol>
                <a:gridCol w="1205205">
                  <a:extLst>
                    <a:ext uri="{9D8B030D-6E8A-4147-A177-3AD203B41FA5}">
                      <a16:colId xmlns:a16="http://schemas.microsoft.com/office/drawing/2014/main" val="2723601986"/>
                    </a:ext>
                  </a:extLst>
                </a:gridCol>
                <a:gridCol w="1205205">
                  <a:extLst>
                    <a:ext uri="{9D8B030D-6E8A-4147-A177-3AD203B41FA5}">
                      <a16:colId xmlns:a16="http://schemas.microsoft.com/office/drawing/2014/main" val="3266697287"/>
                    </a:ext>
                  </a:extLst>
                </a:gridCol>
                <a:gridCol w="1205205">
                  <a:extLst>
                    <a:ext uri="{9D8B030D-6E8A-4147-A177-3AD203B41FA5}">
                      <a16:colId xmlns:a16="http://schemas.microsoft.com/office/drawing/2014/main" val="461759658"/>
                    </a:ext>
                  </a:extLst>
                </a:gridCol>
              </a:tblGrid>
              <a:tr h="2221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 dirty="0"/>
                        <a:t>Day</a:t>
                      </a:r>
                      <a:endParaRPr lang="en-US" sz="1300" dirty="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Breakfast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Lunch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Dinner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Snack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/>
                        <a:t>Total Calories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3184003300"/>
                  </a:ext>
                </a:extLst>
              </a:tr>
              <a:tr h="388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/>
                        <a:t>Mon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Oatmeal + Banana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Chicken Rice Bowl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Veg Stir Fry + Egg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Yogurt + Nuts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1,900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4242742247"/>
                  </a:ext>
                </a:extLst>
              </a:tr>
              <a:tr h="388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/>
                        <a:t>Tue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Scrambled Eggs + Toast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Lentil Curry + Rice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Grilled Chicken + Veggies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Apple + Peanut Butter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1,950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2786771726"/>
                  </a:ext>
                </a:extLst>
              </a:tr>
              <a:tr h="3885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/>
                        <a:t>Wed</a:t>
                      </a:r>
                      <a:endParaRPr lang="en-US" sz="1300"/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Smoothie (Milk + Oats)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Chickpea Salad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Baked Fish + Quinoa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Mixed Nuts</a:t>
                      </a:r>
                    </a:p>
                  </a:txBody>
                  <a:tcPr marL="66558" marR="66558" marT="33279" marB="3327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/>
                        <a:t>1,880</a:t>
                      </a:r>
                    </a:p>
                  </a:txBody>
                  <a:tcPr marL="66558" marR="66558" marT="33279" marB="33279" anchor="ctr"/>
                </a:tc>
                <a:extLst>
                  <a:ext uri="{0D108BD9-81ED-4DB2-BD59-A6C34878D82A}">
                    <a16:rowId xmlns:a16="http://schemas.microsoft.com/office/drawing/2014/main" val="549620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C492DA-F9FD-9621-7B5D-7116E7F7D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376295"/>
              </p:ext>
            </p:extLst>
          </p:nvPr>
        </p:nvGraphicFramePr>
        <p:xfrm>
          <a:off x="-2136713" y="1152331"/>
          <a:ext cx="951096" cy="1588068"/>
        </p:xfrm>
        <a:graphic>
          <a:graphicData uri="http://schemas.openxmlformats.org/drawingml/2006/table">
            <a:tbl>
              <a:tblPr/>
              <a:tblGrid>
                <a:gridCol w="158516">
                  <a:extLst>
                    <a:ext uri="{9D8B030D-6E8A-4147-A177-3AD203B41FA5}">
                      <a16:colId xmlns:a16="http://schemas.microsoft.com/office/drawing/2014/main" val="3967471378"/>
                    </a:ext>
                  </a:extLst>
                </a:gridCol>
                <a:gridCol w="158516">
                  <a:extLst>
                    <a:ext uri="{9D8B030D-6E8A-4147-A177-3AD203B41FA5}">
                      <a16:colId xmlns:a16="http://schemas.microsoft.com/office/drawing/2014/main" val="1963706640"/>
                    </a:ext>
                  </a:extLst>
                </a:gridCol>
                <a:gridCol w="158516">
                  <a:extLst>
                    <a:ext uri="{9D8B030D-6E8A-4147-A177-3AD203B41FA5}">
                      <a16:colId xmlns:a16="http://schemas.microsoft.com/office/drawing/2014/main" val="1086711313"/>
                    </a:ext>
                  </a:extLst>
                </a:gridCol>
                <a:gridCol w="158516">
                  <a:extLst>
                    <a:ext uri="{9D8B030D-6E8A-4147-A177-3AD203B41FA5}">
                      <a16:colId xmlns:a16="http://schemas.microsoft.com/office/drawing/2014/main" val="3908461190"/>
                    </a:ext>
                  </a:extLst>
                </a:gridCol>
                <a:gridCol w="158516">
                  <a:extLst>
                    <a:ext uri="{9D8B030D-6E8A-4147-A177-3AD203B41FA5}">
                      <a16:colId xmlns:a16="http://schemas.microsoft.com/office/drawing/2014/main" val="1658934324"/>
                    </a:ext>
                  </a:extLst>
                </a:gridCol>
                <a:gridCol w="158516">
                  <a:extLst>
                    <a:ext uri="{9D8B030D-6E8A-4147-A177-3AD203B41FA5}">
                      <a16:colId xmlns:a16="http://schemas.microsoft.com/office/drawing/2014/main" val="833632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32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1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164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7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298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985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854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399">
        <p:circle/>
      </p:transition>
    </mc:Choice>
    <mc:Fallback>
      <p:transition spd="slow" advTm="2399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D6D0-6326-4B87-D432-ECB679C8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E881-894F-AF5E-1F2D-A3BC53587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1️⃣ Personal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14EF6-A7D6-7CE0-3DE4-C8CD656F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6" y="180547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💪 Workout Routine</a:t>
            </a:r>
          </a:p>
          <a:p>
            <a:r>
              <a:rPr lang="en-US" b="1" dirty="0"/>
              <a:t>Context:</a:t>
            </a:r>
            <a:r>
              <a:rPr lang="en-US" dirty="0"/>
              <a:t> Certified fitness trainer designing a 4-week strength program.</a:t>
            </a:r>
          </a:p>
          <a:p>
            <a:r>
              <a:rPr lang="en-US" b="1" dirty="0"/>
              <a:t>Objective:</a:t>
            </a:r>
            <a:r>
              <a:rPr lang="en-US" dirty="0"/>
              <a:t> Build muscle, improve stamina.</a:t>
            </a:r>
          </a:p>
          <a:p>
            <a:r>
              <a:rPr lang="en-US" b="1" dirty="0"/>
              <a:t>Constraints:</a:t>
            </a:r>
            <a:r>
              <a:rPr lang="en-US" dirty="0"/>
              <a:t> Home workouts only, 45 min/day, 5 days/week.</a:t>
            </a:r>
          </a:p>
          <a:p>
            <a:r>
              <a:rPr lang="en-US" b="1" dirty="0"/>
              <a:t>Data/Inputs:</a:t>
            </a:r>
            <a:r>
              <a:rPr lang="en-US" dirty="0"/>
              <a:t> No injuries, basic equipment (dumbbells, mat).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88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230">
        <p:circle/>
      </p:transition>
    </mc:Choice>
    <mc:Fallback>
      <p:transition spd="slow" advTm="1230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5CD19-711F-2717-C99A-82D3DC93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158F-5ABE-7180-5F09-D5A44656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1️⃣ Personal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EE76-CEF7-5779-46B6-33F14F4CF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6" y="180547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💪 Workout Routine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 progressive overload weekly.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Alternate push/pull/legs.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 10-min warm-up &amp; cooldown.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b="1" dirty="0"/>
              <a:t>Week 1:</a:t>
            </a:r>
            <a:r>
              <a:rPr lang="en-US" dirty="0"/>
              <a:t> Push (Chest, Shoulders, Triceps) – Dumbbell press, pushups, dips.</a:t>
            </a:r>
            <a:br>
              <a:rPr lang="en-US" dirty="0"/>
            </a:br>
            <a:r>
              <a:rPr lang="en-US" b="1" dirty="0"/>
              <a:t>Week 2–4:</a:t>
            </a:r>
            <a:r>
              <a:rPr lang="en-US" dirty="0"/>
              <a:t> Gradual load increase, track reps.</a:t>
            </a:r>
          </a:p>
        </p:txBody>
      </p:sp>
    </p:spTree>
    <p:extLst>
      <p:ext uri="{BB962C8B-B14F-4D97-AF65-F5344CB8AC3E}">
        <p14:creationId xmlns:p14="http://schemas.microsoft.com/office/powerpoint/2010/main" val="4277084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128">
        <p:circle/>
      </p:transition>
    </mc:Choice>
    <mc:Fallback>
      <p:transition spd="slow" advTm="1128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A5C90-4744-7CE5-586F-138CE749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8B36-4F65-F1BF-4172-DCA3412D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1️⃣ </a:t>
            </a:r>
            <a:r>
              <a:rPr b="1" dirty="0"/>
              <a:t>Personal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446B3-6560-0398-8870-FE2339580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6" y="180547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✈️ </a:t>
            </a:r>
            <a:r>
              <a:rPr lang="en-US" sz="3400" b="1" dirty="0"/>
              <a:t>Travel Itinerary</a:t>
            </a:r>
          </a:p>
          <a:p>
            <a:r>
              <a:rPr lang="en-US" b="1" dirty="0"/>
              <a:t>Context:</a:t>
            </a:r>
            <a:r>
              <a:rPr lang="en-US" dirty="0"/>
              <a:t> Expert travel planner for a 7-day Italy trip.</a:t>
            </a:r>
          </a:p>
          <a:p>
            <a:r>
              <a:rPr lang="en-US" b="1" dirty="0"/>
              <a:t>Objective:</a:t>
            </a:r>
            <a:r>
              <a:rPr lang="en-US" dirty="0"/>
              <a:t> Blend history, cuisine, and local experiences.</a:t>
            </a:r>
          </a:p>
          <a:p>
            <a:r>
              <a:rPr lang="en-US" b="1" dirty="0"/>
              <a:t>Constraints:</a:t>
            </a:r>
            <a:r>
              <a:rPr lang="en-US" dirty="0"/>
              <a:t> Budget $1500, moderate pace, safe solo travel.</a:t>
            </a:r>
          </a:p>
          <a:p>
            <a:r>
              <a:rPr lang="en-US" b="1" dirty="0"/>
              <a:t>Data/Inputs:</a:t>
            </a:r>
            <a:r>
              <a:rPr lang="en-US" dirty="0"/>
              <a:t> Cities – Rome, Florence, Venice.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384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832">
        <p:circle/>
      </p:transition>
    </mc:Choice>
    <mc:Fallback>
      <p:transition spd="slow" advTm="1832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92F86-69E0-7585-1E1B-915B96E6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F7F9-A4E1-9559-9F50-24C5021F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1️⃣ </a:t>
            </a:r>
            <a:r>
              <a:rPr b="1" dirty="0"/>
              <a:t>Personal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E212B-47D8-D1C8-9ACA-C1EAE050E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46" y="180547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✈️ </a:t>
            </a:r>
            <a:r>
              <a:rPr lang="en-US" sz="3400" b="1" dirty="0"/>
              <a:t>Travel Itinerary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Book train passes in advance.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Plan 1 highlight/day.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 local food spots.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b="1" dirty="0"/>
              <a:t>Day 1–2 Rome:</a:t>
            </a:r>
            <a:r>
              <a:rPr lang="en-US" dirty="0"/>
              <a:t> Colosseum, Vatican, Trastevere dinner.</a:t>
            </a:r>
            <a:br>
              <a:rPr lang="en-US" dirty="0"/>
            </a:br>
            <a:r>
              <a:rPr lang="en-US" b="1" dirty="0"/>
              <a:t>Day 3–4 Florence:</a:t>
            </a:r>
            <a:r>
              <a:rPr lang="en-US" dirty="0"/>
              <a:t> Uffizi, local gelato tasting.</a:t>
            </a:r>
            <a:br>
              <a:rPr lang="en-US" dirty="0"/>
            </a:br>
            <a:r>
              <a:rPr lang="en-US" b="1" dirty="0"/>
              <a:t>Day 5–7 Venice:</a:t>
            </a:r>
            <a:r>
              <a:rPr lang="en-US" dirty="0"/>
              <a:t> Gondola, Murano glass tour.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3285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187">
        <p:circle/>
      </p:transition>
    </mc:Choice>
    <mc:Fallback>
      <p:transition spd="slow" advTm="2187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757B-4947-71E9-6179-D4BE52ED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9D1E-67C3-B08E-66A6-0FEDF346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Professional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0A3DD-852E-D7A6-B86C-4CA0A420A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820" y="2118049"/>
            <a:ext cx="7044612" cy="3051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🏢 Business Plan:</a:t>
            </a:r>
          </a:p>
          <a:p>
            <a:r>
              <a:rPr lang="en-US" b="1" dirty="0"/>
              <a:t>Context:</a:t>
            </a:r>
            <a:r>
              <a:rPr lang="en-US" dirty="0"/>
              <a:t> 20-year business strategist drafting a startup plan.</a:t>
            </a:r>
          </a:p>
          <a:p>
            <a:r>
              <a:rPr lang="en-US" b="1" dirty="0"/>
              <a:t>Objective:</a:t>
            </a:r>
            <a:r>
              <a:rPr lang="en-US" dirty="0"/>
              <a:t> Secure investor funding for a tech app.</a:t>
            </a:r>
          </a:p>
          <a:p>
            <a:r>
              <a:rPr lang="en-US" b="1" dirty="0"/>
              <a:t>Constraints:</a:t>
            </a:r>
            <a:r>
              <a:rPr lang="en-US" dirty="0"/>
              <a:t> 15-page limit, formal tone, include market analysis.</a:t>
            </a:r>
          </a:p>
          <a:p>
            <a:r>
              <a:rPr lang="en-US" b="1" dirty="0"/>
              <a:t>Data/Inputs:</a:t>
            </a:r>
            <a:r>
              <a:rPr lang="en-US" dirty="0"/>
              <a:t> App: “</a:t>
            </a:r>
            <a:r>
              <a:rPr lang="en-US" dirty="0" err="1"/>
              <a:t>SkillConnect</a:t>
            </a:r>
            <a:r>
              <a:rPr lang="en-US" dirty="0"/>
              <a:t>” – AI-based freelancer matching.</a:t>
            </a:r>
          </a:p>
        </p:txBody>
      </p:sp>
    </p:spTree>
    <p:extLst>
      <p:ext uri="{BB962C8B-B14F-4D97-AF65-F5344CB8AC3E}">
        <p14:creationId xmlns:p14="http://schemas.microsoft.com/office/powerpoint/2010/main" val="335911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763">
        <p:circle/>
      </p:transition>
    </mc:Choice>
    <mc:Fallback>
      <p:transition spd="slow" advTm="1763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63" y="1017037"/>
            <a:ext cx="6377940" cy="1293028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2️⃣ Professional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730" y="2673220"/>
            <a:ext cx="7044612" cy="3167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🏢 Business Plan: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Write executive summary → market gap → revenue model → team → projections.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Add competitor SWOT.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b="1" dirty="0"/>
              <a:t>Deliverable:</a:t>
            </a:r>
            <a:r>
              <a:rPr lang="en-US" dirty="0"/>
              <a:t> Full business plan PDF with executive summary, 5-year forecast chart, and funding ask.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079">
        <p:circle/>
      </p:transition>
    </mc:Choice>
    <mc:Fallback>
      <p:transition spd="slow" advTm="2079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24E02-4F08-BE7B-3F4D-7147946BF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AD50-D412-80DB-C063-BD78187D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Professional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D0575-470A-8F28-2561-8AA79FF7B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135" y="174949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b="1" dirty="0"/>
              <a:t>📣 Marketing Strategy:</a:t>
            </a:r>
          </a:p>
          <a:p>
            <a:r>
              <a:rPr lang="en-US" b="1" dirty="0"/>
              <a:t>Context:</a:t>
            </a:r>
            <a:r>
              <a:rPr lang="en-US" dirty="0"/>
              <a:t> Senior marketing consultant developing campaign for eco-products brand.</a:t>
            </a:r>
          </a:p>
          <a:p>
            <a:r>
              <a:rPr lang="en-US" b="1" dirty="0"/>
              <a:t>Objective:</a:t>
            </a:r>
            <a:r>
              <a:rPr lang="en-US" dirty="0"/>
              <a:t> Increase sales by 25% in 6 months.</a:t>
            </a:r>
          </a:p>
          <a:p>
            <a:r>
              <a:rPr lang="en-US" b="1" dirty="0"/>
              <a:t>Constraints:</a:t>
            </a:r>
            <a:r>
              <a:rPr lang="en-US" dirty="0"/>
              <a:t> Digital-only, budget $10k.</a:t>
            </a:r>
          </a:p>
          <a:p>
            <a:r>
              <a:rPr lang="en-US" b="1" dirty="0"/>
              <a:t>Data/Inputs:</a:t>
            </a:r>
            <a:r>
              <a:rPr lang="en-US" dirty="0"/>
              <a:t> Audience: 18–35 yrs eco-conscious consumers.</a:t>
            </a:r>
          </a:p>
        </p:txBody>
      </p:sp>
    </p:spTree>
    <p:extLst>
      <p:ext uri="{BB962C8B-B14F-4D97-AF65-F5344CB8AC3E}">
        <p14:creationId xmlns:p14="http://schemas.microsoft.com/office/powerpoint/2010/main" val="407643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3018">
        <p:circle/>
      </p:transition>
    </mc:Choice>
    <mc:Fallback>
      <p:transition spd="slow" advTm="3018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D206-CFB1-4349-31BE-20DA9C4C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18B4-6404-488E-8FA6-D16927C1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Professional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FDFE6-0FA6-794B-7655-1DC590A45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66" y="174949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b="1" dirty="0"/>
              <a:t>📣 Marketing Strategy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Analyze competitors.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Design content funnel (awareness → engagement → purchase).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 influencer micro-collabs + UGC.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b="1" dirty="0"/>
              <a:t>Channels:</a:t>
            </a:r>
            <a:r>
              <a:rPr lang="en-US" dirty="0"/>
              <a:t> Instagram, TikTok, Email series.</a:t>
            </a:r>
            <a:br>
              <a:rPr lang="en-US" dirty="0"/>
            </a:br>
            <a:r>
              <a:rPr lang="en-US" b="1" dirty="0"/>
              <a:t>KPIs:</a:t>
            </a:r>
            <a:r>
              <a:rPr lang="en-US" dirty="0"/>
              <a:t> CTR ≥ 5%, CAC ≤ $8, ROI ≥ 3x.</a:t>
            </a:r>
          </a:p>
        </p:txBody>
      </p:sp>
    </p:spTree>
    <p:extLst>
      <p:ext uri="{BB962C8B-B14F-4D97-AF65-F5344CB8AC3E}">
        <p14:creationId xmlns:p14="http://schemas.microsoft.com/office/powerpoint/2010/main" val="2890612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908">
        <p:circle/>
      </p:transition>
    </mc:Choice>
    <mc:Fallback>
      <p:transition spd="slow" advTm="1908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C8FA2-1C09-9EBC-8D05-388792FD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FC8F-3FA3-2963-0EA0-C3B037D2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Professional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F2F5-16C0-637A-26FA-BCD19104E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🧾 Technical Documentation:</a:t>
            </a:r>
          </a:p>
          <a:p>
            <a:r>
              <a:rPr lang="en-US" b="1" dirty="0"/>
              <a:t>Context:</a:t>
            </a:r>
            <a:r>
              <a:rPr lang="en-US" dirty="0"/>
              <a:t> Senior tech writer documenting an API for developers.</a:t>
            </a:r>
          </a:p>
          <a:p>
            <a:r>
              <a:rPr lang="en-US" b="1" dirty="0"/>
              <a:t>Objective:</a:t>
            </a:r>
            <a:r>
              <a:rPr lang="en-US" dirty="0"/>
              <a:t> Produce a clear, error-free REST API guide.</a:t>
            </a:r>
          </a:p>
          <a:p>
            <a:r>
              <a:rPr lang="en-US" b="1" dirty="0"/>
              <a:t>Constraints:</a:t>
            </a:r>
            <a:r>
              <a:rPr lang="en-US" dirty="0"/>
              <a:t> Must include examples in JSON + curl, concise ≤ 15 pages.</a:t>
            </a:r>
          </a:p>
          <a:p>
            <a:r>
              <a:rPr lang="en-US" b="1" dirty="0"/>
              <a:t>Data/Inputs:</a:t>
            </a:r>
            <a:r>
              <a:rPr lang="en-US" dirty="0"/>
              <a:t> API endpoints: /login, /users, /transactions.</a:t>
            </a:r>
          </a:p>
          <a:p>
            <a:r>
              <a:rPr lang="en-US" b="1" dirty="0"/>
              <a:t>Process: </a:t>
            </a:r>
            <a:r>
              <a:rPr lang="en-US" dirty="0"/>
              <a:t>Add Overview → Auth → Endpoints → Sample Request/Response → Errors.</a:t>
            </a:r>
          </a:p>
          <a:p>
            <a:r>
              <a:rPr lang="en-US" b="1" dirty="0"/>
              <a:t>Output: </a:t>
            </a:r>
            <a:r>
              <a:rPr lang="en-US" dirty="0"/>
              <a:t>Markdown documentation file with code snippets and versioning notes.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753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775">
        <p:circle/>
      </p:transition>
    </mc:Choice>
    <mc:Fallback>
      <p:transition spd="slow" advTm="1775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Creative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sz="3800" b="1" dirty="0"/>
              <a:t>🎬 Content Script</a:t>
            </a:r>
            <a:r>
              <a:rPr lang="en-US" sz="3800" b="1" dirty="0"/>
              <a:t>:</a:t>
            </a:r>
            <a:endParaRPr sz="3800" b="1" dirty="0"/>
          </a:p>
          <a:p>
            <a:r>
              <a:rPr lang="en-US" sz="3400" b="1" dirty="0"/>
              <a:t>Context:</a:t>
            </a:r>
            <a:r>
              <a:rPr lang="en-US" sz="3400" dirty="0"/>
              <a:t> 20-year media producer scripting a YouTube video.</a:t>
            </a:r>
          </a:p>
          <a:p>
            <a:r>
              <a:rPr lang="en-US" sz="3400" b="1" dirty="0"/>
              <a:t>Objective:</a:t>
            </a:r>
            <a:r>
              <a:rPr lang="en-US" sz="3400" dirty="0"/>
              <a:t> 8-min engaging explainer on “AI in Everyday Life”.</a:t>
            </a:r>
          </a:p>
          <a:p>
            <a:r>
              <a:rPr lang="en-US" sz="3400" b="1" dirty="0"/>
              <a:t>Constraints:</a:t>
            </a:r>
            <a:r>
              <a:rPr lang="en-US" sz="3400" dirty="0"/>
              <a:t> Friendly tone, factual, visual hooks every 60s.</a:t>
            </a:r>
          </a:p>
          <a:p>
            <a:r>
              <a:rPr lang="en-US" sz="3400" b="1" dirty="0"/>
              <a:t>Data/Inputs:</a:t>
            </a:r>
            <a:r>
              <a:rPr lang="en-US" sz="3400" dirty="0"/>
              <a:t> Audience: 18–40, general interest.</a:t>
            </a:r>
          </a:p>
          <a:p>
            <a:r>
              <a:rPr lang="en-US" sz="3400" b="1" dirty="0"/>
              <a:t>Process: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Intro hook → problem → explanation → benefits → CTA.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000" dirty="0"/>
              <a:t>Add timestamps + B-roll notes.</a:t>
            </a:r>
          </a:p>
          <a:p>
            <a:r>
              <a:rPr lang="en-US" sz="3400" b="1" dirty="0"/>
              <a:t>Output:</a:t>
            </a:r>
            <a:br>
              <a:rPr lang="en-US" sz="3400" dirty="0"/>
            </a:br>
            <a:r>
              <a:rPr lang="en-US" sz="3400" dirty="0"/>
              <a:t>Full script with narration, scene directions, and transition notes.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681">
        <p:circle/>
      </p:transition>
    </mc:Choice>
    <mc:Fallback>
      <p:transition spd="slow" advTm="1681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656A-1C5B-7F08-1915-FC7C3398E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7A2B-E8B4-04F6-7361-6B0B527A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Creative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21638-5828-DD9F-8104-622D3612A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b="1" dirty="0"/>
              <a:t>🎨 Design Brief:</a:t>
            </a:r>
          </a:p>
          <a:p>
            <a:r>
              <a:rPr lang="en-US" b="1" dirty="0"/>
              <a:t>Context:</a:t>
            </a:r>
            <a:r>
              <a:rPr lang="en-US" dirty="0"/>
              <a:t> Senior creative director briefing a designer for rebranding.</a:t>
            </a:r>
          </a:p>
          <a:p>
            <a:r>
              <a:rPr lang="en-US" b="1" dirty="0"/>
              <a:t>Objective:</a:t>
            </a:r>
            <a:r>
              <a:rPr lang="en-US" dirty="0"/>
              <a:t> Create a modern logo for fintech startup.</a:t>
            </a:r>
          </a:p>
          <a:p>
            <a:r>
              <a:rPr lang="en-US" b="1" dirty="0"/>
              <a:t>Constraints:</a:t>
            </a:r>
            <a:r>
              <a:rPr lang="en-US" dirty="0"/>
              <a:t> Blue/white palette, minimalistic, scalable for web/app.</a:t>
            </a:r>
          </a:p>
          <a:p>
            <a:r>
              <a:rPr lang="en-US" b="1" dirty="0"/>
              <a:t>Data/Inputs:</a:t>
            </a:r>
            <a:r>
              <a:rPr lang="en-US" dirty="0"/>
              <a:t> Brand values – trust, innovation, clarity.</a:t>
            </a:r>
          </a:p>
          <a:p>
            <a:r>
              <a:rPr lang="en-US" b="1" dirty="0"/>
              <a:t>Process: </a:t>
            </a:r>
            <a:r>
              <a:rPr lang="en-US" dirty="0"/>
              <a:t>Moodboard → Sketch concepts → Digital mockups → Final delivery.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PDF brief with logo inspiration grid + typography guide.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3460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047">
        <p:circle/>
      </p:transition>
    </mc:Choice>
    <mc:Fallback>
      <p:transition spd="slow" advTm="1047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3459-C08C-CF1C-7EA8-C324EE8C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6FD0-B3AD-7469-A4B1-B5D01535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Creative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CE63C-5036-24DE-628B-151E750FA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300" b="1" dirty="0"/>
              <a:t>📚 Storytelling Framework:</a:t>
            </a:r>
          </a:p>
          <a:p>
            <a:r>
              <a:rPr lang="en-US" b="1" dirty="0"/>
              <a:t>Context:</a:t>
            </a:r>
            <a:r>
              <a:rPr lang="en-US" dirty="0"/>
              <a:t> Screenwriter designing a short film plot.</a:t>
            </a:r>
          </a:p>
          <a:p>
            <a:r>
              <a:rPr lang="en-US" b="1" dirty="0"/>
              <a:t>Objective:</a:t>
            </a:r>
            <a:r>
              <a:rPr lang="en-US" dirty="0"/>
              <a:t> Write 10-min drama around “second chances.”</a:t>
            </a:r>
          </a:p>
          <a:p>
            <a:r>
              <a:rPr lang="en-US" b="1" dirty="0"/>
              <a:t>Constraints:</a:t>
            </a:r>
            <a:r>
              <a:rPr lang="en-US" dirty="0"/>
              <a:t> 2 characters, single location.</a:t>
            </a:r>
          </a:p>
          <a:p>
            <a:r>
              <a:rPr lang="en-US" b="1" dirty="0"/>
              <a:t>Data/Inputs:</a:t>
            </a:r>
            <a:r>
              <a:rPr lang="en-US" dirty="0"/>
              <a:t> Themes: regret, hope, redemption.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r>
              <a:rPr lang="en-US" dirty="0"/>
              <a:t>3-act structure (setup → conflict → resolution).</a:t>
            </a:r>
          </a:p>
          <a:p>
            <a:r>
              <a:rPr lang="en-US" dirty="0"/>
              <a:t>Add emotional arc &amp; twist.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Script outline with scene beats and dialogue snippets.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2444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665">
        <p:circle/>
      </p:transition>
    </mc:Choice>
    <mc:Fallback>
      <p:transition spd="slow" advTm="1665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AA44-651E-B4F1-05D8-04893113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9219-F13A-7B4E-4653-D3C9ECC6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Educational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250D1-3368-6809-06BA-AD84E0FCA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📘 Study Guide:</a:t>
            </a:r>
          </a:p>
          <a:p>
            <a:r>
              <a:rPr lang="en-US" b="1" dirty="0"/>
              <a:t>Context:</a:t>
            </a:r>
            <a:r>
              <a:rPr lang="en-US" dirty="0"/>
              <a:t> Education expert creating a study plan for MBA students. </a:t>
            </a:r>
          </a:p>
          <a:p>
            <a:r>
              <a:rPr lang="en-US" b="1" dirty="0"/>
              <a:t>Objective:</a:t>
            </a:r>
            <a:r>
              <a:rPr lang="en-US" dirty="0"/>
              <a:t> Help master Strategic Management in 3 weeks. </a:t>
            </a:r>
          </a:p>
          <a:p>
            <a:r>
              <a:rPr lang="en-US" b="1" dirty="0"/>
              <a:t>Constraints:</a:t>
            </a:r>
            <a:r>
              <a:rPr lang="en-US" dirty="0"/>
              <a:t> 2 </a:t>
            </a:r>
            <a:r>
              <a:rPr lang="en-US" dirty="0" err="1"/>
              <a:t>hrs</a:t>
            </a:r>
            <a:r>
              <a:rPr lang="en-US" dirty="0"/>
              <a:t>/day, self-study format. </a:t>
            </a:r>
          </a:p>
          <a:p>
            <a:r>
              <a:rPr lang="en-US" b="1" dirty="0"/>
              <a:t>Data/Inputs:</a:t>
            </a:r>
            <a:r>
              <a:rPr lang="en-US" dirty="0"/>
              <a:t> Topics: SWOT, Porter’s Five Forces, Case Studies. </a:t>
            </a:r>
          </a:p>
          <a:p>
            <a:r>
              <a:rPr lang="en-US" b="1" dirty="0"/>
              <a:t>Process: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Divide chapters weekly → theory → examples → quizzes.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PDF study guide with day-wise goals + summary sheets.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298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389">
        <p:circle/>
      </p:transition>
    </mc:Choice>
    <mc:Fallback>
      <p:transition spd="slow" advTm="2389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Educational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b="1" dirty="0"/>
              <a:t>🔬 Research Plan:</a:t>
            </a:r>
          </a:p>
          <a:p>
            <a:r>
              <a:rPr lang="en-US" b="1" dirty="0"/>
              <a:t>Context:</a:t>
            </a:r>
            <a:r>
              <a:rPr lang="en-US" dirty="0"/>
              <a:t> Senior academic researcher planning a study.</a:t>
            </a:r>
          </a:p>
          <a:p>
            <a:r>
              <a:rPr lang="en-US" b="1" dirty="0"/>
              <a:t>Objective:</a:t>
            </a:r>
            <a:r>
              <a:rPr lang="en-US" dirty="0"/>
              <a:t> Evaluate renewable energy adoption in SMEs. </a:t>
            </a:r>
          </a:p>
          <a:p>
            <a:r>
              <a:rPr lang="en-US" b="1" dirty="0"/>
              <a:t>Constraints:</a:t>
            </a:r>
            <a:r>
              <a:rPr lang="en-US" dirty="0"/>
              <a:t> 6-month timeline, mixed-method research. </a:t>
            </a:r>
          </a:p>
          <a:p>
            <a:r>
              <a:rPr lang="en-US" b="1" dirty="0"/>
              <a:t>/Inputs:</a:t>
            </a:r>
            <a:r>
              <a:rPr lang="en-US" dirty="0"/>
              <a:t> Region: South Asia. 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Literature review → Hypothesis → Surveys → Interviews → Data analysis. 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Formal research proposal with Gantt chart, methodology, and references.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103">
        <p:circle/>
      </p:transition>
    </mc:Choice>
    <mc:Fallback>
      <p:transition spd="slow" advTm="1103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D8A7-E777-A850-3ED6-97B2C3F0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92DE-BD38-0FDE-FF3A-A955C6130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Educational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402B9-4149-441E-EC21-8EEA926A5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📖 Learning Curriculum:</a:t>
            </a:r>
          </a:p>
          <a:p>
            <a:r>
              <a:rPr lang="en-US" b="1" dirty="0"/>
              <a:t>Context:</a:t>
            </a:r>
            <a:r>
              <a:rPr lang="en-US" dirty="0"/>
              <a:t> 20-year education designer developing a 6-month AI Fundamentals course. </a:t>
            </a:r>
          </a:p>
          <a:p>
            <a:r>
              <a:rPr lang="en-US" b="1" dirty="0"/>
              <a:t>Objective:</a:t>
            </a:r>
            <a:r>
              <a:rPr lang="en-US" dirty="0"/>
              <a:t> Make students job-ready in AI basics.</a:t>
            </a:r>
          </a:p>
          <a:p>
            <a:r>
              <a:rPr lang="en-US" b="1" dirty="0"/>
              <a:t>Constraints:</a:t>
            </a:r>
            <a:r>
              <a:rPr lang="en-US" dirty="0"/>
              <a:t> Online, 2 classes/week, project-based. </a:t>
            </a:r>
          </a:p>
          <a:p>
            <a:r>
              <a:rPr lang="en-US" b="1" dirty="0"/>
              <a:t>Data/Inputs:</a:t>
            </a:r>
            <a:r>
              <a:rPr lang="en-US" dirty="0"/>
              <a:t> Topics – Python, ML, Ethics, AI Tools.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Module design → Content creation → Quizzes → Capstone project. </a:t>
            </a:r>
          </a:p>
          <a:p>
            <a:r>
              <a:rPr lang="en-US" b="1" dirty="0"/>
              <a:t>Output:</a:t>
            </a:r>
            <a:br>
              <a:rPr lang="en-US" dirty="0"/>
            </a:br>
            <a:r>
              <a:rPr lang="en-US" dirty="0"/>
              <a:t>Full curriculum outline with module objectives, resources, and grading rubrics.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9004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659">
        <p:circle/>
      </p:transition>
    </mc:Choice>
    <mc:Fallback>
      <p:transition spd="slow" advTm="659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524B9-8275-F299-E7EF-A795EA00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7624" y="1922106"/>
            <a:ext cx="6148874" cy="3648270"/>
          </a:xfrm>
        </p:spPr>
        <p:txBody>
          <a:bodyPr/>
          <a:lstStyle/>
          <a:p>
            <a:r>
              <a:rPr lang="en-US" dirty="0"/>
              <a:t>THANKS FOR WATCHING</a:t>
            </a:r>
          </a:p>
        </p:txBody>
      </p:sp>
    </p:spTree>
    <p:extLst>
      <p:ext uri="{BB962C8B-B14F-4D97-AF65-F5344CB8AC3E}">
        <p14:creationId xmlns:p14="http://schemas.microsoft.com/office/powerpoint/2010/main" val="3274874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1542">
        <p:circle/>
      </p:transition>
    </mc:Choice>
    <mc:Fallback>
      <p:transition spd="slow" advTm="1542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2572</TotalTime>
  <Words>1239</Words>
  <Application>Microsoft Office PowerPoint</Application>
  <PresentationFormat>On-screen Show (4:3)</PresentationFormat>
  <Paragraphs>163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Calisto MT</vt:lpstr>
      <vt:lpstr>Courier New</vt:lpstr>
      <vt:lpstr>Wingdings 2</vt:lpstr>
      <vt:lpstr>Slate</vt:lpstr>
      <vt:lpstr>Advanced Applications using the 6-Step Prompting Framework</vt:lpstr>
      <vt:lpstr>🔹The 6-Step Prompting Framework</vt:lpstr>
      <vt:lpstr>1️⃣ Personal Applications</vt:lpstr>
      <vt:lpstr>1️⃣ Personal Applications</vt:lpstr>
      <vt:lpstr>1️⃣ Personal Applications</vt:lpstr>
      <vt:lpstr>1️⃣ Personal Applications</vt:lpstr>
      <vt:lpstr>1️⃣ Personal Applications</vt:lpstr>
      <vt:lpstr>1️⃣ Personal Applications</vt:lpstr>
      <vt:lpstr>2️⃣ Professional Applications</vt:lpstr>
      <vt:lpstr>2️⃣ Professional Applications</vt:lpstr>
      <vt:lpstr>2️⃣ Professional Applications</vt:lpstr>
      <vt:lpstr>2️⃣ Professional Applications</vt:lpstr>
      <vt:lpstr>2️⃣ Professional Applications</vt:lpstr>
      <vt:lpstr>3️⃣ Creative Applications</vt:lpstr>
      <vt:lpstr>3️⃣ Creative Applications</vt:lpstr>
      <vt:lpstr>3️⃣ Creative Applications</vt:lpstr>
      <vt:lpstr>4️⃣ Educational Applications</vt:lpstr>
      <vt:lpstr>4️⃣ Educational Applications</vt:lpstr>
      <vt:lpstr>4️⃣ Educational Applications</vt:lpstr>
      <vt:lpstr>THANKS FOR WATCHING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bc160404395 Zakia Bashir</cp:lastModifiedBy>
  <cp:revision>2</cp:revision>
  <dcterms:created xsi:type="dcterms:W3CDTF">2013-01-27T09:14:16Z</dcterms:created>
  <dcterms:modified xsi:type="dcterms:W3CDTF">2025-11-13T12:42:35Z</dcterms:modified>
  <cp:category/>
</cp:coreProperties>
</file>