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475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466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94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673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5575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915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342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367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739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25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004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890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106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173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774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967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366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89F0B81-DFA6-4F4D-BAE3-2E8B0F86828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2EBD036-66F7-47C3-8AD6-E0B5E5BF7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97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8214">
        <p15:prstTrans prst="fracture"/>
      </p:transition>
    </mc:Choice>
    <mc:Fallback>
      <p:transition spd="slow" advTm="8214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ACEA-2F3A-A242-7B2F-F78AFB906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7894" y="629814"/>
            <a:ext cx="8036538" cy="2962472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From Chain of Thought to Tree of Thought </a:t>
            </a:r>
            <a:br>
              <a:rPr lang="en-US" sz="4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F3B40-7C4B-834F-39A2-0B071CD62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1759" y="4757121"/>
            <a:ext cx="5348482" cy="86142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Prepared by</a:t>
            </a:r>
          </a:p>
          <a:p>
            <a:pPr algn="ctr"/>
            <a:r>
              <a:rPr lang="en-US" dirty="0">
                <a:latin typeface="Algerian" panose="04020705040A02060702" pitchFamily="82" charset="0"/>
              </a:rPr>
              <a:t>Zakia Bashir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3F6E4-07E0-568A-D42F-FC47785CC708}"/>
              </a:ext>
            </a:extLst>
          </p:cNvPr>
          <p:cNvSpPr txBox="1"/>
          <p:nvPr/>
        </p:nvSpPr>
        <p:spPr>
          <a:xfrm>
            <a:off x="3072714" y="3338554"/>
            <a:ext cx="66113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Evolving Reasoning in</a:t>
            </a:r>
            <a:b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Prompt Engineering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73504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3839">
        <p15:prstTrans prst="fracture"/>
      </p:transition>
    </mc:Choice>
    <mc:Fallback>
      <p:transition spd="slow" advTm="3839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90E6-5F28-3A80-B1F0-AA2C7138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8A4CE-CC41-5EBC-AADB-3034838F3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/>
              <a:t>Title:</a:t>
            </a:r>
            <a:r>
              <a:rPr lang="en-US" sz="2800" dirty="0"/>
              <a:t> The Power of Reasoning in Prompt Engineering</a:t>
            </a:r>
          </a:p>
          <a:p>
            <a:pPr>
              <a:buNone/>
            </a:pPr>
            <a:r>
              <a:rPr lang="en-US" b="1" dirty="0"/>
              <a:t>Content:</a:t>
            </a:r>
          </a:p>
          <a:p>
            <a:r>
              <a:rPr lang="en-US" dirty="0"/>
              <a:t>AI models like GPT reason step-by-step.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reasoning paradigms: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Chain of Thought (CoT)</a:t>
            </a:r>
            <a:r>
              <a:rPr lang="en-US" dirty="0"/>
              <a:t> – linear reasoning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Tree of Thought (ToT)</a:t>
            </a:r>
            <a:r>
              <a:rPr lang="en-US" dirty="0"/>
              <a:t> – branching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reasoning prompts matter for accuracy, creativity, and interpretability.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2896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3417">
        <p15:prstTrans prst="fracture"/>
      </p:transition>
    </mc:Choice>
    <mc:Fallback>
      <p:transition spd="slow" advTm="341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27C4-F366-950A-A682-C3582B5E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38DE-E578-50CF-B55C-8556B85EC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082" y="609600"/>
            <a:ext cx="9905998" cy="1905000"/>
          </a:xfrm>
        </p:spPr>
        <p:txBody>
          <a:bodyPr/>
          <a:lstStyle/>
          <a:p>
            <a:pPr algn="ctr"/>
            <a:r>
              <a:rPr lang="en-US" b="1" dirty="0"/>
              <a:t>Chain of Thought (CoT)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9E4E-4F0C-B95E-AD0C-48273FEB2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What is Chain of Thought (CoT)?</a:t>
            </a:r>
          </a:p>
          <a:p>
            <a:pPr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CoT prompting encourages an LLM to show its step-by-step reasoning before the final answer.</a:t>
            </a:r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Prompt:</a:t>
            </a:r>
            <a:r>
              <a:rPr lang="en-US" dirty="0"/>
              <a:t> “If Ali has 3 apples and buys 2 more, how many apples does he have?”</a:t>
            </a:r>
            <a:br>
              <a:rPr lang="en-US" dirty="0"/>
            </a:br>
            <a:r>
              <a:rPr lang="en-US" b="1" dirty="0"/>
              <a:t>CoT Reasoning:</a:t>
            </a:r>
            <a:r>
              <a:rPr lang="en-US" dirty="0"/>
              <a:t> “Ali starts with 3, adds 2, total = 5 apples.”</a:t>
            </a:r>
          </a:p>
          <a:p>
            <a:pPr>
              <a:buNone/>
            </a:pPr>
            <a:r>
              <a:rPr lang="en-US" b="1" dirty="0"/>
              <a:t>Output:</a:t>
            </a:r>
            <a:r>
              <a:rPr lang="en-US" dirty="0"/>
              <a:t> 5 apples</a:t>
            </a:r>
          </a:p>
        </p:txBody>
      </p:sp>
    </p:spTree>
    <p:extLst>
      <p:ext uri="{BB962C8B-B14F-4D97-AF65-F5344CB8AC3E}">
        <p14:creationId xmlns:p14="http://schemas.microsoft.com/office/powerpoint/2010/main" val="38338072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769">
        <p15:prstTrans prst="fracture"/>
      </p:transition>
    </mc:Choice>
    <mc:Fallback>
      <p:transition spd="slow" advTm="2769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B734-29F8-5A6E-9AA2-F47B6058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2002-3116-C23D-9C5A-D8A0E1FF4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Key Features of CoT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3E06-6506-125A-B29A-D358F28F0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/>
              <a:t>Key Features of CoT: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Linear flow of logic (A → B → C → Answer)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Excellent for </a:t>
            </a:r>
            <a:r>
              <a:rPr lang="en-US" b="1" dirty="0"/>
              <a:t>math, logic puzzles, and reasoning tasks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implement: </a:t>
            </a:r>
            <a:r>
              <a:rPr lang="en-US" i="1" dirty="0"/>
              <a:t>“Let’s think step by step”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model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</a:t>
            </a:r>
            <a:r>
              <a:rPr lang="en-US" dirty="0"/>
              <a:t>: </a:t>
            </a:r>
            <a:r>
              <a:rPr lang="en-US" b="1" dirty="0"/>
              <a:t>single reasoning path</a:t>
            </a:r>
            <a:r>
              <a:rPr lang="en-US" dirty="0"/>
              <a:t>, may get stuck on wrong assumptions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765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913">
        <p15:prstTrans prst="fracture"/>
      </p:transition>
    </mc:Choice>
    <mc:Fallback>
      <p:transition spd="slow" advTm="1913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21A4-EAD6-57A2-3F53-CE60ACFC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9E5F-D6EB-0319-C720-1B082858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/>
            </a:br>
            <a:r>
              <a:rPr lang="en-US" b="1" dirty="0"/>
              <a:t>Tree of Thought (ToT)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0DC9-41E2-88AE-9653-7F4FF04E9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What is Tree of Thought (ToT)?</a:t>
            </a:r>
          </a:p>
          <a:p>
            <a:pPr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ToT extends CoT by exploring </a:t>
            </a:r>
            <a:r>
              <a:rPr lang="en-US" b="1" dirty="0"/>
              <a:t>multiple reasoning branches</a:t>
            </a:r>
            <a:r>
              <a:rPr lang="en-US" dirty="0"/>
              <a:t>, evaluating, and choosing the best path.</a:t>
            </a:r>
          </a:p>
          <a:p>
            <a:pPr>
              <a:buNone/>
            </a:pPr>
            <a:r>
              <a:rPr lang="en-US" b="1" dirty="0"/>
              <a:t>Analogy:</a:t>
            </a:r>
            <a:br>
              <a:rPr lang="en-US" dirty="0"/>
            </a:br>
            <a:r>
              <a:rPr lang="en-US" dirty="0"/>
              <a:t>CoT = one road</a:t>
            </a:r>
            <a:br>
              <a:rPr lang="en-US" dirty="0"/>
            </a:br>
            <a:r>
              <a:rPr lang="en-US" dirty="0"/>
              <a:t>ToT = a map of roads with checkpoints and evaluations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206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323">
        <p15:prstTrans prst="fracture"/>
      </p:transition>
    </mc:Choice>
    <mc:Fallback>
      <p:transition spd="slow" advTm="2323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DEFCB-8129-94FC-5F49-5ACB42DA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5F64-8EEF-B70D-A002-8E30F9EE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ToT 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D0B6-30C3-05B8-F155-9AC6B1666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833" y="1825625"/>
            <a:ext cx="10515600" cy="3483493"/>
          </a:xfrm>
        </p:spPr>
        <p:txBody>
          <a:bodyPr/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/>
              <a:t>Problem: “Find the best strategy for a 2-player game.”</a:t>
            </a:r>
          </a:p>
          <a:p>
            <a:pPr>
              <a:buNone/>
            </a:pPr>
            <a:r>
              <a:rPr lang="en-US" b="1" dirty="0"/>
              <a:t>ToT Process:</a:t>
            </a:r>
            <a:endParaRPr lang="en-US" dirty="0"/>
          </a:p>
          <a:p>
            <a:r>
              <a:rPr lang="en-US" dirty="0"/>
              <a:t>Model generates </a:t>
            </a:r>
            <a:r>
              <a:rPr lang="en-US" b="1" dirty="0"/>
              <a:t>several reasoning paths</a:t>
            </a:r>
            <a:r>
              <a:rPr lang="en-US" dirty="0"/>
              <a:t> (branches).</a:t>
            </a:r>
          </a:p>
          <a:p>
            <a:r>
              <a:rPr lang="en-US" dirty="0"/>
              <a:t>Each branch is </a:t>
            </a:r>
            <a:r>
              <a:rPr lang="en-US" b="1" dirty="0"/>
              <a:t>evaluated</a:t>
            </a:r>
            <a:r>
              <a:rPr lang="en-US" dirty="0"/>
              <a:t> (e.g., probability of success).</a:t>
            </a:r>
          </a:p>
          <a:p>
            <a:r>
              <a:rPr lang="en-US" dirty="0"/>
              <a:t>The best or combined path is chosen as the final output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104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334">
        <p15:prstTrans prst="fracture"/>
      </p:transition>
    </mc:Choice>
    <mc:Fallback>
      <p:transition spd="slow" advTm="2334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11F18-3643-B7FF-BE73-9A6E8DB2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67F7-1E77-3B83-3240-A3A42E6B5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714500"/>
          </a:xfrm>
        </p:spPr>
        <p:txBody>
          <a:bodyPr/>
          <a:lstStyle/>
          <a:p>
            <a:pPr algn="ctr"/>
            <a:br>
              <a:rPr lang="en-US" b="1" dirty="0"/>
            </a:br>
            <a:r>
              <a:rPr lang="en-US" b="1" dirty="0"/>
              <a:t>CoT vs ToT – Comparison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19311B-5901-B524-0226-E77F62DB2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558281"/>
              </p:ext>
            </p:extLst>
          </p:nvPr>
        </p:nvGraphicFramePr>
        <p:xfrm>
          <a:off x="838201" y="2245273"/>
          <a:ext cx="10171922" cy="35303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41623">
                  <a:extLst>
                    <a:ext uri="{9D8B030D-6E8A-4147-A177-3AD203B41FA5}">
                      <a16:colId xmlns:a16="http://schemas.microsoft.com/office/drawing/2014/main" val="702611595"/>
                    </a:ext>
                  </a:extLst>
                </a:gridCol>
                <a:gridCol w="3951811">
                  <a:extLst>
                    <a:ext uri="{9D8B030D-6E8A-4147-A177-3AD203B41FA5}">
                      <a16:colId xmlns:a16="http://schemas.microsoft.com/office/drawing/2014/main" val="1697252402"/>
                    </a:ext>
                  </a:extLst>
                </a:gridCol>
                <a:gridCol w="3778488">
                  <a:extLst>
                    <a:ext uri="{9D8B030D-6E8A-4147-A177-3AD203B41FA5}">
                      <a16:colId xmlns:a16="http://schemas.microsoft.com/office/drawing/2014/main" val="3367341891"/>
                    </a:ext>
                  </a:extLst>
                </a:gridCol>
              </a:tblGrid>
              <a:tr h="608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Chain of Thought (CoT)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Tree of Thought (ToT)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9580299"/>
                  </a:ext>
                </a:extLst>
              </a:tr>
              <a:tr h="486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Branching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670058"/>
                  </a:ext>
                </a:extLst>
              </a:tr>
              <a:tr h="486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Exploration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Single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Multiple paths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565009"/>
                  </a:ext>
                </a:extLst>
              </a:tr>
              <a:tr h="486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896934"/>
                  </a:ext>
                </a:extLst>
              </a:tr>
              <a:tr h="486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Creativity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Broader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613666"/>
                  </a:ext>
                </a:extLst>
              </a:tr>
              <a:tr h="486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Computationally intensive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309810"/>
                  </a:ext>
                </a:extLst>
              </a:tr>
              <a:tr h="486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Math,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Planning, strategy, writing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72206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10160F88-9C29-331B-022F-8D1EB7897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CoT vs ToT – Comparison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9261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4742">
        <p15:prstTrans prst="fracture"/>
      </p:transition>
    </mc:Choice>
    <mc:Fallback>
      <p:transition spd="slow" advTm="4742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4D5B-B0D0-2A78-6692-2FD9F8E3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BF66-C7EF-05A9-4799-0158BA1F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Applications in Prompt Engineering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40671-B4F3-C122-1BE8-ABFF9A69A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690" y="1825625"/>
            <a:ext cx="9442579" cy="3978016"/>
          </a:xfrm>
        </p:spPr>
        <p:txBody>
          <a:bodyPr/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/>
              <a:t>Applications in Prompt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CoT:</a:t>
            </a:r>
            <a:r>
              <a:rPr lang="en-US" dirty="0"/>
              <a:t> Arithmetic reasoning, logical deduction, QA 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ToT:</a:t>
            </a:r>
            <a:r>
              <a:rPr lang="en-US" dirty="0"/>
              <a:t> Code generation, story writing, strategy simulation, multi-step decision 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US" b="1" dirty="0"/>
              <a:t>advanced agent frameworks</a:t>
            </a:r>
            <a:r>
              <a:rPr lang="en-US" dirty="0"/>
              <a:t> like </a:t>
            </a:r>
            <a:r>
              <a:rPr lang="en-US" b="1" dirty="0"/>
              <a:t>AutoGPT</a:t>
            </a:r>
            <a:r>
              <a:rPr lang="en-US" dirty="0"/>
              <a:t>, </a:t>
            </a:r>
            <a:r>
              <a:rPr lang="en-US" b="1" dirty="0" err="1"/>
              <a:t>BabyAGI</a:t>
            </a:r>
            <a:r>
              <a:rPr lang="en-US" dirty="0"/>
              <a:t>, and </a:t>
            </a:r>
            <a:r>
              <a:rPr lang="en-US" b="1" dirty="0"/>
              <a:t>OpenAI o1 models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4185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498">
        <p15:prstTrans prst="fracture"/>
      </p:transition>
    </mc:Choice>
    <mc:Fallback>
      <p:transition spd="slow" advTm="2498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FDCB-E4CB-C45D-BAD2-1454CC1B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16B6-D113-C2AF-6798-564544BE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How to Design CoT and ToT Prompts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7C580-1E65-5AC5-6EF3-5515DD16C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3220" cy="363278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/>
              <a:t>How to Design CoT and ToT Prompts</a:t>
            </a:r>
          </a:p>
          <a:p>
            <a:pPr>
              <a:buNone/>
            </a:pPr>
            <a:r>
              <a:rPr lang="en-US" b="1" dirty="0"/>
              <a:t>CoT Example:</a:t>
            </a:r>
            <a:endParaRPr lang="en-US" dirty="0"/>
          </a:p>
          <a:p>
            <a:pPr>
              <a:buNone/>
            </a:pPr>
            <a:r>
              <a:rPr lang="en-US" dirty="0"/>
              <a:t>“Let’s think step by step to find the correct solution.”</a:t>
            </a:r>
          </a:p>
          <a:p>
            <a:pPr>
              <a:buNone/>
            </a:pPr>
            <a:r>
              <a:rPr lang="en-US" b="1" dirty="0"/>
              <a:t>ToT Example:</a:t>
            </a:r>
            <a:endParaRPr lang="en-US" dirty="0"/>
          </a:p>
          <a:p>
            <a:pPr>
              <a:buNone/>
            </a:pPr>
            <a:r>
              <a:rPr lang="en-US" dirty="0"/>
              <a:t>“Generate three possible reasoning paths. Evaluate each for accuracy and efficiency, then select the best.”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152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339">
        <p15:prstTrans prst="fracture"/>
      </p:transition>
    </mc:Choice>
    <mc:Fallback>
      <p:transition spd="slow" advTm="2339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15D8-93F8-37F7-AE49-8BB1C48C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5B78-D483-E8A6-DA82-C72C67A7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Strengths and Limitations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82F2-8C96-67A0-845A-D2CBBD3D9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559" y="2097088"/>
            <a:ext cx="8304245" cy="354793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CoT Strengths:</a:t>
            </a:r>
            <a:r>
              <a:rPr lang="en-US" sz="2400" dirty="0"/>
              <a:t> Simplicity, transparency, low cost</a:t>
            </a:r>
            <a:br>
              <a:rPr lang="en-US" sz="2400" dirty="0"/>
            </a:br>
            <a:r>
              <a:rPr lang="en-US" sz="2400" b="1" dirty="0"/>
              <a:t>CoT Limitations:</a:t>
            </a:r>
            <a:r>
              <a:rPr lang="en-US" sz="2400" dirty="0"/>
              <a:t> No backtracking</a:t>
            </a:r>
          </a:p>
          <a:p>
            <a:pPr>
              <a:buNone/>
            </a:pPr>
            <a:r>
              <a:rPr lang="en-US" sz="2400" b="1" dirty="0"/>
              <a:t>ToT Strengths:</a:t>
            </a:r>
            <a:r>
              <a:rPr lang="en-US" sz="2400" dirty="0"/>
              <a:t> Creativity, self-correction, deeper reasoning</a:t>
            </a:r>
            <a:br>
              <a:rPr lang="en-US" sz="2400" dirty="0"/>
            </a:br>
            <a:r>
              <a:rPr lang="en-US" sz="2400" b="1" dirty="0"/>
              <a:t>ToT Limitations:</a:t>
            </a:r>
            <a:r>
              <a:rPr lang="en-US" sz="2400" dirty="0"/>
              <a:t> Computationally heavy, harder to control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87696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6066">
        <p15:prstTrans prst="fracture"/>
      </p:transition>
    </mc:Choice>
    <mc:Fallback>
      <p:transition spd="slow" advTm="6066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166D-D978-6E96-CBFC-B5C75E427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E54E3-3C44-58C3-99A9-58675894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Future of Reasoning Prompts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C510D-20E6-02C3-4FA0-389454EC2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416560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Future of Reasoning Prompts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Hybrid models (mix CoT + ToT)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in </a:t>
            </a:r>
            <a:r>
              <a:rPr lang="en-US" b="1" dirty="0"/>
              <a:t>autonomous agents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evaluation metrics for reasoning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next generation: </a:t>
            </a:r>
            <a:r>
              <a:rPr lang="en-US" b="1" dirty="0"/>
              <a:t>Meta-Reasoning Prompts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57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063">
        <p15:prstTrans prst="fracture"/>
      </p:transition>
    </mc:Choice>
    <mc:Fallback>
      <p:transition spd="slow" advTm="2063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9A51-D3E2-4965-1058-572FCC91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3A37-C9E8-B7BF-F337-EA2236BA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US" b="1" dirty="0"/>
            </a:br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9EB49-130A-8B54-E0C7-FD3E28221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648" y="2106710"/>
            <a:ext cx="8576388" cy="389404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CoT</a:t>
            </a:r>
            <a:r>
              <a:rPr lang="en-US" sz="2400" dirty="0"/>
              <a:t> = Foundation of structured reasoning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ToT</a:t>
            </a:r>
            <a:r>
              <a:rPr lang="en-US" sz="2400" dirty="0"/>
              <a:t> = Expansion toward cognitive exploration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Together they define the </a:t>
            </a:r>
            <a:r>
              <a:rPr lang="en-US" sz="2400" b="1" dirty="0"/>
              <a:t>future of intelligent prompting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43282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654">
        <p15:prstTrans prst="fracture"/>
      </p:transition>
    </mc:Choice>
    <mc:Fallback>
      <p:transition spd="slow" advTm="654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F6BE-9DA6-375A-8084-09AA25CD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6A18-0AFD-942D-7091-058D3318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/>
            </a:br>
            <a:r>
              <a:rPr lang="en-US" b="1" dirty="0"/>
              <a:t>QUESTIONS &amp;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B86EB-D06D-F677-06CF-2965DAE1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3613" y="2481943"/>
            <a:ext cx="5525277" cy="30340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Q&amp;A</a:t>
            </a:r>
          </a:p>
          <a:p>
            <a:pPr>
              <a:buNone/>
            </a:pPr>
            <a:r>
              <a:rPr lang="en-US" sz="2400" dirty="0"/>
              <a:t>“Reasoning isn’t just what the model does — it’s how we teach it to think.”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355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2234">
        <p15:prstTrans prst="fracture"/>
      </p:transition>
    </mc:Choice>
    <mc:Fallback>
      <p:transition spd="slow" advTm="223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9FB6-3531-6F30-5049-A9EDC1E5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96" y="2264852"/>
            <a:ext cx="10515600" cy="2328296"/>
          </a:xfrm>
        </p:spPr>
        <p:txBody>
          <a:bodyPr/>
          <a:lstStyle/>
          <a:p>
            <a:pPr algn="ctr"/>
            <a:r>
              <a:rPr lang="en-US" sz="4800" b="1" dirty="0">
                <a:latin typeface="Algerian" panose="04020705040A02060702" pitchFamily="82" charset="0"/>
              </a:rPr>
              <a:t>THANKS FOR </a:t>
            </a:r>
            <a:br>
              <a:rPr lang="en-US" sz="4800" b="1" dirty="0">
                <a:latin typeface="Algerian" panose="04020705040A02060702" pitchFamily="82" charset="0"/>
              </a:rPr>
            </a:br>
            <a:r>
              <a:rPr lang="en-US" sz="4800" b="1" dirty="0">
                <a:latin typeface="Algerian" panose="04020705040A02060702" pitchFamily="82" charset="0"/>
              </a:rPr>
              <a:t>WATCHING</a:t>
            </a:r>
          </a:p>
        </p:txBody>
      </p:sp>
    </p:spTree>
    <p:extLst>
      <p:ext uri="{BB962C8B-B14F-4D97-AF65-F5344CB8AC3E}">
        <p14:creationId xmlns:p14="http://schemas.microsoft.com/office/powerpoint/2010/main" val="38109626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639">
        <p15:prstTrans prst="fracture"/>
      </p:transition>
    </mc:Choice>
    <mc:Fallback>
      <p:transition spd="slow" advTm="639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302</TotalTime>
  <Words>593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Century Gothic</vt:lpstr>
      <vt:lpstr>Mesh</vt:lpstr>
      <vt:lpstr>From Chain of Thought to Tree of Thought  </vt:lpstr>
      <vt:lpstr>INTRODUCTION</vt:lpstr>
      <vt:lpstr>Chain of Thought (CoT)</vt:lpstr>
      <vt:lpstr> Key Features of CoT </vt:lpstr>
      <vt:lpstr> Tree of Thought (ToT)</vt:lpstr>
      <vt:lpstr> ToT Example </vt:lpstr>
      <vt:lpstr> CoT vs ToT – Comparison Table</vt:lpstr>
      <vt:lpstr> Applications in Prompt Engineering </vt:lpstr>
      <vt:lpstr> How to Design CoT and ToT Prompts </vt:lpstr>
      <vt:lpstr> Strengths and Limitations </vt:lpstr>
      <vt:lpstr> Future of Reasoning Prompts </vt:lpstr>
      <vt:lpstr> Conclusion </vt:lpstr>
      <vt:lpstr> QUESTIONS &amp; ANSWER</vt:lpstr>
      <vt:lpstr>THANKS FOR 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bc160404395 Zakia Bashir</dc:creator>
  <cp:lastModifiedBy>bc160404395 Zakia Bashir</cp:lastModifiedBy>
  <cp:revision>6</cp:revision>
  <dcterms:created xsi:type="dcterms:W3CDTF">2025-11-05T15:39:12Z</dcterms:created>
  <dcterms:modified xsi:type="dcterms:W3CDTF">2025-11-15T19:31:24Z</dcterms:modified>
</cp:coreProperties>
</file>