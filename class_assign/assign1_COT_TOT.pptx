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71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5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7" d="100"/>
          <a:sy n="47" d="100"/>
        </p:scale>
        <p:origin x="1080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87477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8130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58307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3932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63735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39652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88528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03407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09551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06943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7373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9596544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52618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9557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55018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26569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39783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9F0B81-DFA6-4F4D-BAE3-2E8B0F868286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EBD036-66F7-47C3-8AD6-E0B5E5BF7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43687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7.m4a"/><Relationship Id="rId1" Type="http://schemas.microsoft.com/office/2007/relationships/media" Target="../media/media7.m4a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8.m4a"/><Relationship Id="rId1" Type="http://schemas.microsoft.com/office/2007/relationships/media" Target="../media/media8.m4a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9.m4a"/><Relationship Id="rId1" Type="http://schemas.microsoft.com/office/2007/relationships/media" Target="../media/media9.m4a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0.m4a"/><Relationship Id="rId1" Type="http://schemas.microsoft.com/office/2007/relationships/media" Target="../media/media10.m4a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1.m4a"/><Relationship Id="rId1" Type="http://schemas.microsoft.com/office/2007/relationships/media" Target="../media/media11.m4a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2.m4a"/><Relationship Id="rId1" Type="http://schemas.microsoft.com/office/2007/relationships/media" Target="../media/media12.m4a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3.m4a"/><Relationship Id="rId1" Type="http://schemas.microsoft.com/office/2007/relationships/media" Target="../media/media13.m4a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4.m4a"/><Relationship Id="rId1" Type="http://schemas.microsoft.com/office/2007/relationships/media" Target="../media/media14.m4a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FACEA-2F3A-A242-7B2F-F78AFB906B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07894" y="629814"/>
            <a:ext cx="8036538" cy="2962472"/>
          </a:xfrm>
        </p:spPr>
        <p:txBody>
          <a:bodyPr/>
          <a:lstStyle/>
          <a:p>
            <a:pPr algn="ctr"/>
            <a:r>
              <a:rPr lang="en-US" sz="48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From Chain of Thought to Tree of Thought </a:t>
            </a:r>
            <a:br>
              <a:rPr lang="en-US" sz="48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</a:br>
            <a:endParaRPr lang="en-US" sz="2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5F3B40-7C4B-834F-39A2-0B071CD622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21759" y="4757121"/>
            <a:ext cx="5348482" cy="861420"/>
          </a:xfrm>
        </p:spPr>
        <p:txBody>
          <a:bodyPr>
            <a:normAutofit fontScale="92500" lnSpcReduction="10000"/>
          </a:bodyPr>
          <a:lstStyle/>
          <a:p>
            <a:pPr algn="ctr"/>
            <a:r>
              <a:rPr lang="en-US" dirty="0">
                <a:latin typeface="Algerian" panose="04020705040A02060702" pitchFamily="82" charset="0"/>
              </a:rPr>
              <a:t>Prepared by</a:t>
            </a:r>
          </a:p>
          <a:p>
            <a:pPr algn="ctr"/>
            <a:r>
              <a:rPr lang="en-US" dirty="0">
                <a:latin typeface="Algerian" panose="04020705040A02060702" pitchFamily="82" charset="0"/>
              </a:rPr>
              <a:t>Zakia Bashir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C3F6E4-07E0-568A-D42F-FC47785CC708}"/>
              </a:ext>
            </a:extLst>
          </p:cNvPr>
          <p:cNvSpPr txBox="1"/>
          <p:nvPr/>
        </p:nvSpPr>
        <p:spPr>
          <a:xfrm>
            <a:off x="3072714" y="3338554"/>
            <a:ext cx="661139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Evolving Reasoning in</a:t>
            </a:r>
            <a:br>
              <a:rPr lang="en-US" sz="28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</a:br>
            <a:r>
              <a:rPr lang="en-US" sz="2800" b="1" dirty="0">
                <a:solidFill>
                  <a:schemeClr val="accent6">
                    <a:lumMod val="20000"/>
                    <a:lumOff val="80000"/>
                  </a:schemeClr>
                </a:solidFill>
              </a:rPr>
              <a:t> Prompt Engineering</a:t>
            </a:r>
            <a:endParaRPr lang="en-US" sz="2800" dirty="0"/>
          </a:p>
        </p:txBody>
      </p:sp>
      <p:pic>
        <p:nvPicPr>
          <p:cNvPr id="6" name="Audio 5">
            <a:hlinkClick r:id="" action="ppaction://media"/>
            <a:extLst>
              <a:ext uri="{FF2B5EF4-FFF2-40B4-BE49-F238E27FC236}">
                <a16:creationId xmlns:a16="http://schemas.microsoft.com/office/drawing/2014/main" id="{24EDA900-5581-480F-10F3-111E2F82564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35049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8214">
        <p15:prstTrans prst="curtains"/>
      </p:transition>
    </mc:Choice>
    <mc:Fallback>
      <p:transition spd="slow" advTm="8214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690E6-5F28-3A80-B1F0-AA2C71380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8A4CE-CC41-5EBC-AADB-3034838F35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b="1" dirty="0"/>
              <a:t>Title:</a:t>
            </a:r>
            <a:r>
              <a:rPr lang="en-US" dirty="0"/>
              <a:t> The Power of Reasoning in Prompt Engineering</a:t>
            </a:r>
          </a:p>
          <a:p>
            <a:pPr>
              <a:buNone/>
            </a:pPr>
            <a:r>
              <a:rPr lang="en-US" b="1" dirty="0"/>
              <a:t>Content:</a:t>
            </a:r>
          </a:p>
          <a:p>
            <a:r>
              <a:rPr lang="en-US" dirty="0"/>
              <a:t>AI models like GPT reason step-by-step.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Two reasoning paradigms: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Chain of Thought (CoT)</a:t>
            </a:r>
            <a:r>
              <a:rPr lang="en-US" dirty="0"/>
              <a:t> – linear reasoning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Tree of Thought (ToT)</a:t>
            </a:r>
            <a:r>
              <a:rPr lang="en-US" dirty="0"/>
              <a:t> – branching reasoning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Why reasoning prompts matter for accuracy, creativity, and interpretability.</a:t>
            </a:r>
          </a:p>
          <a:p>
            <a:endParaRPr lang="en-US" dirty="0"/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94AFDA9B-4DD7-2042-D5A7-8C07D4043E6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28969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8513">
        <p15:prstTrans prst="curtains"/>
      </p:transition>
    </mc:Choice>
    <mc:Fallback>
      <p:transition spd="slow" advTm="8513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F27C4-F366-950A-A682-C3582B5EF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F38DE-E578-50CF-B55C-8556B85EC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Chain of Thought (CoT)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C9E4E-4F0C-B95E-AD0C-48273FEB2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 dirty="0"/>
              <a:t>What is Chain of Thought (CoT)?</a:t>
            </a:r>
          </a:p>
          <a:p>
            <a:pPr>
              <a:buNone/>
            </a:pPr>
            <a:r>
              <a:rPr lang="en-US" b="1" dirty="0"/>
              <a:t>Definition:</a:t>
            </a:r>
            <a:br>
              <a:rPr lang="en-US" dirty="0"/>
            </a:br>
            <a:r>
              <a:rPr lang="en-US" dirty="0"/>
              <a:t>CoT prompting encourages an LLM to show its step-by-step reasoning before the final answer.</a:t>
            </a:r>
          </a:p>
          <a:p>
            <a:pPr>
              <a:buNone/>
            </a:pPr>
            <a:r>
              <a:rPr lang="en-US" b="1" dirty="0"/>
              <a:t>Example:</a:t>
            </a:r>
            <a:br>
              <a:rPr lang="en-US" dirty="0"/>
            </a:br>
            <a:r>
              <a:rPr lang="en-US" b="1" dirty="0"/>
              <a:t>Prompt:</a:t>
            </a:r>
            <a:r>
              <a:rPr lang="en-US" dirty="0"/>
              <a:t> “If Ali has 3 apples and buys 2 more, how many apples does he have?”</a:t>
            </a:r>
            <a:br>
              <a:rPr lang="en-US" dirty="0"/>
            </a:br>
            <a:r>
              <a:rPr lang="en-US" b="1" dirty="0"/>
              <a:t>CoT Reasoning:</a:t>
            </a:r>
            <a:r>
              <a:rPr lang="en-US" dirty="0"/>
              <a:t> “Ali starts with 3, adds 2, total = 5 apples.”</a:t>
            </a:r>
          </a:p>
          <a:p>
            <a:pPr>
              <a:buNone/>
            </a:pPr>
            <a:r>
              <a:rPr lang="en-US" b="1" dirty="0"/>
              <a:t>Output:</a:t>
            </a:r>
            <a:r>
              <a:rPr lang="en-US" dirty="0"/>
              <a:t> 5 apples</a:t>
            </a:r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10500373-5617-A400-0E3F-F9273F4C3F4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80722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9955">
        <p15:prstTrans prst="curtains"/>
      </p:transition>
    </mc:Choice>
    <mc:Fallback>
      <p:transition spd="slow" advTm="9955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0B734-29F8-5A6E-9AA2-F47B60581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02002-3116-C23D-9C5A-D8A0E1FF4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en-US" b="1" dirty="0"/>
            </a:br>
            <a:r>
              <a:rPr lang="en-US" b="1" dirty="0"/>
              <a:t>Key Features of CoT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03E06-6506-125A-B29A-D358F28F0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Key Features of CoT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Linear flow of logic (A → B → C → Answer)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Excellent for </a:t>
            </a:r>
            <a:r>
              <a:rPr lang="en-US" b="1" dirty="0"/>
              <a:t>math, logic puzzles, and reasoning tasks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Easy to implement: </a:t>
            </a:r>
            <a:r>
              <a:rPr lang="en-US" i="1" dirty="0"/>
              <a:t>“Let’s think step by step”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Improves model transparency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Limitation: </a:t>
            </a:r>
            <a:r>
              <a:rPr lang="en-US" b="1" dirty="0"/>
              <a:t>single reasoning path</a:t>
            </a:r>
            <a:r>
              <a:rPr lang="en-US" dirty="0"/>
              <a:t>, may get stuck on wrong assumptions</a:t>
            </a:r>
          </a:p>
          <a:p>
            <a:endParaRPr lang="en-US" dirty="0"/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69D8212A-75A9-E281-F5F6-2E3F2635F03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57652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6574">
        <p15:prstTrans prst="curtains"/>
      </p:transition>
    </mc:Choice>
    <mc:Fallback>
      <p:transition spd="slow" advTm="6574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21A4-EAD6-57A2-3F53-CE60ACFC5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C9E5F-D6EB-0319-C720-1B0828585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br>
              <a:rPr lang="en-US" b="1" dirty="0"/>
            </a:br>
            <a:r>
              <a:rPr lang="en-US" b="1" dirty="0"/>
              <a:t>Tree of Thought (ToT)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C0DC9-41E2-88AE-9653-7F4FF04E9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What is Tree of Thought (ToT)?</a:t>
            </a:r>
          </a:p>
          <a:p>
            <a:pPr>
              <a:buNone/>
            </a:pPr>
            <a:r>
              <a:rPr lang="en-US" b="1" dirty="0"/>
              <a:t>Definition:</a:t>
            </a:r>
            <a:br>
              <a:rPr lang="en-US" dirty="0"/>
            </a:br>
            <a:r>
              <a:rPr lang="en-US" dirty="0"/>
              <a:t>ToT extends CoT by exploring </a:t>
            </a:r>
            <a:r>
              <a:rPr lang="en-US" b="1" dirty="0"/>
              <a:t>multiple reasoning branches</a:t>
            </a:r>
            <a:r>
              <a:rPr lang="en-US" dirty="0"/>
              <a:t>, evaluating, and choosing the best path.</a:t>
            </a:r>
          </a:p>
          <a:p>
            <a:pPr>
              <a:buNone/>
            </a:pPr>
            <a:r>
              <a:rPr lang="en-US" b="1" dirty="0"/>
              <a:t>Analogy:</a:t>
            </a:r>
            <a:br>
              <a:rPr lang="en-US" dirty="0"/>
            </a:br>
            <a:r>
              <a:rPr lang="en-US" dirty="0"/>
              <a:t>CoT = one road</a:t>
            </a:r>
            <a:br>
              <a:rPr lang="en-US" dirty="0"/>
            </a:br>
            <a:r>
              <a:rPr lang="en-US" dirty="0"/>
              <a:t>ToT = a map of roads with checkpoints and evaluations</a:t>
            </a:r>
          </a:p>
          <a:p>
            <a:endParaRPr lang="en-US" dirty="0"/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BA48F15F-7085-4CBA-FE7C-4CEC922125B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42060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7167">
        <p15:prstTrans prst="curtains"/>
      </p:transition>
    </mc:Choice>
    <mc:Fallback>
      <p:transition spd="slow" advTm="7167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DEFCB-8129-94FC-5F49-5ACB42DA6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5F64-8EEF-B70D-A002-8E30F9EE9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en-US" b="1" dirty="0"/>
            </a:br>
            <a:r>
              <a:rPr lang="en-US" b="1" dirty="0"/>
              <a:t>ToT Example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ED0B6-30C3-05B8-F155-9AC6B1666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833" y="1825625"/>
            <a:ext cx="10515600" cy="3483493"/>
          </a:xfrm>
        </p:spPr>
        <p:txBody>
          <a:bodyPr/>
          <a:lstStyle/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Problem:</a:t>
            </a:r>
            <a:r>
              <a:rPr lang="en-US" dirty="0"/>
              <a:t> “Find the best strategy for a 2-player game.”</a:t>
            </a:r>
            <a:br>
              <a:rPr lang="en-US" dirty="0"/>
            </a:br>
            <a:r>
              <a:rPr lang="en-US" b="1" dirty="0"/>
              <a:t>ToT Process: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dirty="0"/>
              <a:t>Model generates </a:t>
            </a:r>
            <a:r>
              <a:rPr lang="en-US" b="1" dirty="0"/>
              <a:t>several reasoning paths</a:t>
            </a:r>
            <a:r>
              <a:rPr lang="en-US" dirty="0"/>
              <a:t> (branches).</a:t>
            </a:r>
          </a:p>
          <a:p>
            <a:pPr>
              <a:buFont typeface="+mj-lt"/>
              <a:buAutoNum type="arabicPeriod"/>
            </a:pPr>
            <a:r>
              <a:rPr lang="en-US" dirty="0"/>
              <a:t>Each branch is </a:t>
            </a:r>
            <a:r>
              <a:rPr lang="en-US" b="1" dirty="0"/>
              <a:t>evaluated</a:t>
            </a:r>
            <a:r>
              <a:rPr lang="en-US" dirty="0"/>
              <a:t> (e.g., probability of success).</a:t>
            </a:r>
          </a:p>
          <a:p>
            <a:pPr>
              <a:buFont typeface="+mj-lt"/>
              <a:buAutoNum type="arabicPeriod"/>
            </a:pPr>
            <a:r>
              <a:rPr lang="en-US" dirty="0"/>
              <a:t>The best or combined path is chosen as the final output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2C272DFB-881C-A6CF-5A91-60C22F0109E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1046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12649">
        <p15:prstTrans prst="curtains"/>
      </p:transition>
    </mc:Choice>
    <mc:Fallback>
      <p:transition spd="slow" advTm="12649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11F18-3643-B7FF-BE73-9A6E8DB2E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F67F7-1E77-3B83-3240-A3A42E6B5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br>
              <a:rPr lang="en-US" b="1" dirty="0"/>
            </a:br>
            <a:r>
              <a:rPr lang="en-US" b="1" dirty="0"/>
              <a:t>CoT vs ToT – Comparison Table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319311B-5901-B524-0226-E77F62DB2B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1833575"/>
              </p:ext>
            </p:extLst>
          </p:nvPr>
        </p:nvGraphicFramePr>
        <p:xfrm>
          <a:off x="838201" y="2245273"/>
          <a:ext cx="10171922" cy="3530374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441623">
                  <a:extLst>
                    <a:ext uri="{9D8B030D-6E8A-4147-A177-3AD203B41FA5}">
                      <a16:colId xmlns:a16="http://schemas.microsoft.com/office/drawing/2014/main" val="702611595"/>
                    </a:ext>
                  </a:extLst>
                </a:gridCol>
                <a:gridCol w="3951811">
                  <a:extLst>
                    <a:ext uri="{9D8B030D-6E8A-4147-A177-3AD203B41FA5}">
                      <a16:colId xmlns:a16="http://schemas.microsoft.com/office/drawing/2014/main" val="1697252402"/>
                    </a:ext>
                  </a:extLst>
                </a:gridCol>
                <a:gridCol w="3778488">
                  <a:extLst>
                    <a:ext uri="{9D8B030D-6E8A-4147-A177-3AD203B41FA5}">
                      <a16:colId xmlns:a16="http://schemas.microsoft.com/office/drawing/2014/main" val="3367341891"/>
                    </a:ext>
                  </a:extLst>
                </a:gridCol>
              </a:tblGrid>
              <a:tr h="60868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/>
                        <a:t>Feature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/>
                        <a:t>Chain of Thought (CoT)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/>
                        <a:t>Tree of Thought (ToT)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9580299"/>
                  </a:ext>
                </a:extLst>
              </a:tr>
              <a:tr h="4869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Structure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Linear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Branching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670058"/>
                  </a:ext>
                </a:extLst>
              </a:tr>
              <a:tr h="4869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Exploration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Single path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Multiple paths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565009"/>
                  </a:ext>
                </a:extLst>
              </a:tr>
              <a:tr h="4869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Accuracy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Good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Higher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896934"/>
                  </a:ext>
                </a:extLst>
              </a:tr>
              <a:tr h="4869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Creativity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Limited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Broader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613666"/>
                  </a:ext>
                </a:extLst>
              </a:tr>
              <a:tr h="4869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Complexity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Simple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Computationally intensive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9309810"/>
                  </a:ext>
                </a:extLst>
              </a:tr>
              <a:tr h="4869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Use Cases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Math, logic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Planning, strategy, writing</a:t>
                      </a:r>
                    </a:p>
                  </a:txBody>
                  <a:tcPr anchor="ctr"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2722062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10160F88-9C29-331B-022F-8D1EB78972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CoT vs ToT – Comparison Table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Audio 3">
            <a:hlinkClick r:id="" action="ppaction://media"/>
            <a:extLst>
              <a:ext uri="{FF2B5EF4-FFF2-40B4-BE49-F238E27FC236}">
                <a16:creationId xmlns:a16="http://schemas.microsoft.com/office/drawing/2014/main" id="{029E8F48-2A19-2258-09C5-F8B76C740DA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92614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9634">
        <p15:prstTrans prst="curtains"/>
      </p:transition>
    </mc:Choice>
    <mc:Fallback>
      <p:transition spd="slow" advTm="9634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64D5B-B0D0-2A78-6692-2FD9F8E32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8BF66-C7EF-05A9-4799-0158BA1F0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en-US" b="1" dirty="0"/>
            </a:br>
            <a:r>
              <a:rPr lang="en-US" b="1" dirty="0"/>
              <a:t>Applications in Prompt Engineering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40671-B4F3-C122-1BE8-ABFF9A69A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33180" cy="3978016"/>
          </a:xfrm>
        </p:spPr>
        <p:txBody>
          <a:bodyPr/>
          <a:lstStyle/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Applications in Prompt Engineering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CoT:</a:t>
            </a:r>
            <a:r>
              <a:rPr lang="en-US" dirty="0"/>
              <a:t> Arithmetic reasoning, logical deduction, QA bots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ToT:</a:t>
            </a:r>
            <a:r>
              <a:rPr lang="en-US" dirty="0"/>
              <a:t> Code generation, story writing, strategy simulation, multi-step decision making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Used in </a:t>
            </a:r>
            <a:r>
              <a:rPr lang="en-US" b="1" dirty="0"/>
              <a:t>advanced agent frameworks</a:t>
            </a:r>
            <a:r>
              <a:rPr lang="en-US" dirty="0"/>
              <a:t> like </a:t>
            </a:r>
            <a:r>
              <a:rPr lang="en-US" b="1" dirty="0"/>
              <a:t>AutoGPT</a:t>
            </a:r>
            <a:r>
              <a:rPr lang="en-US" dirty="0"/>
              <a:t>, </a:t>
            </a:r>
            <a:r>
              <a:rPr lang="en-US" b="1" dirty="0" err="1"/>
              <a:t>BabyAGI</a:t>
            </a:r>
            <a:r>
              <a:rPr lang="en-US" dirty="0"/>
              <a:t>, and </a:t>
            </a:r>
            <a:r>
              <a:rPr lang="en-US" b="1" dirty="0"/>
              <a:t>OpenAI o1 models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64458250-537C-A980-9FF5-57D867ACEA7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41854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8551">
        <p15:prstTrans prst="curtains"/>
      </p:transition>
    </mc:Choice>
    <mc:Fallback>
      <p:transition spd="slow" advTm="855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2FDCB-E4CB-C45D-BAD2-1454CC1B6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016B6-D113-C2AF-6798-564544BE5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en-US" b="1" dirty="0"/>
            </a:br>
            <a:r>
              <a:rPr lang="en-US" b="1" dirty="0"/>
              <a:t>How to Design CoT and ToT Prompts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7C580-1E65-5AC5-6EF3-5515DD16C3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93220" cy="3632783"/>
          </a:xfrm>
        </p:spPr>
        <p:txBody>
          <a:bodyPr>
            <a:normAutofit lnSpcReduction="10000"/>
          </a:bodyPr>
          <a:lstStyle/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How to Design CoT and ToT Prompts</a:t>
            </a:r>
          </a:p>
          <a:p>
            <a:pPr>
              <a:buNone/>
            </a:pPr>
            <a:r>
              <a:rPr lang="en-US" b="1" dirty="0"/>
              <a:t>CoT Example:</a:t>
            </a:r>
            <a:endParaRPr lang="en-US" dirty="0"/>
          </a:p>
          <a:p>
            <a:pPr>
              <a:buNone/>
            </a:pPr>
            <a:r>
              <a:rPr lang="en-US" dirty="0"/>
              <a:t>“Let’s think step by step to find the correct solution.”</a:t>
            </a:r>
          </a:p>
          <a:p>
            <a:pPr>
              <a:buNone/>
            </a:pPr>
            <a:r>
              <a:rPr lang="en-US" b="1" dirty="0"/>
              <a:t>ToT Example:</a:t>
            </a:r>
            <a:endParaRPr lang="en-US" dirty="0"/>
          </a:p>
          <a:p>
            <a:pPr>
              <a:buNone/>
            </a:pPr>
            <a:r>
              <a:rPr lang="en-US" dirty="0"/>
              <a:t>“Generate three possible reasoning paths. Evaluate each for accuracy and efficiency, then select the best.”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5EE65087-C156-6349-01E4-9339190BEB1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01529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10807">
        <p15:prstTrans prst="curtains"/>
      </p:transition>
    </mc:Choice>
    <mc:Fallback>
      <p:transition spd="slow" advTm="10807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C15D8-93F8-37F7-AE49-8BB1C48CD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D5B78-D483-E8A6-DA82-C72C67A74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en-US" b="1" dirty="0"/>
            </a:br>
            <a:r>
              <a:rPr lang="en-US" b="1" dirty="0"/>
              <a:t>Strengths and Limitations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382F2-8C96-67A0-845A-D2CBBD3D9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97088"/>
            <a:ext cx="10515600" cy="2531771"/>
          </a:xfrm>
        </p:spPr>
        <p:txBody>
          <a:bodyPr>
            <a:normAutofit lnSpcReduction="10000"/>
          </a:bodyPr>
          <a:lstStyle/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CoT Strengths:</a:t>
            </a:r>
            <a:r>
              <a:rPr lang="en-US" dirty="0"/>
              <a:t> Simplicity, transparency, low cost</a:t>
            </a:r>
            <a:br>
              <a:rPr lang="en-US" dirty="0"/>
            </a:br>
            <a:r>
              <a:rPr lang="en-US" b="1" dirty="0"/>
              <a:t>CoT Limitations:</a:t>
            </a:r>
            <a:r>
              <a:rPr lang="en-US" dirty="0"/>
              <a:t> No backtracking</a:t>
            </a:r>
          </a:p>
          <a:p>
            <a:pPr>
              <a:buNone/>
            </a:pPr>
            <a:r>
              <a:rPr lang="en-US" b="1" dirty="0"/>
              <a:t>ToT Strengths:</a:t>
            </a:r>
            <a:r>
              <a:rPr lang="en-US" dirty="0"/>
              <a:t> Creativity, self-correction, deeper reasoning</a:t>
            </a:r>
            <a:br>
              <a:rPr lang="en-US" dirty="0"/>
            </a:br>
            <a:r>
              <a:rPr lang="en-US" b="1" dirty="0"/>
              <a:t>ToT Limitations:</a:t>
            </a:r>
            <a:r>
              <a:rPr lang="en-US" dirty="0"/>
              <a:t> Computationally heavy, harder to control</a:t>
            </a:r>
          </a:p>
          <a:p>
            <a:endParaRPr lang="en-US" dirty="0"/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88DD2335-1C51-EC58-DD79-B0DE7F84599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76968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9350">
        <p15:prstTrans prst="curtains"/>
      </p:transition>
    </mc:Choice>
    <mc:Fallback>
      <p:transition spd="slow" advTm="935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8166D-D978-6E96-CBFC-B5C75E427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E54E3-3C44-58C3-99A9-586758949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en-US" b="1" dirty="0"/>
            </a:br>
            <a:r>
              <a:rPr lang="en-US" b="1" dirty="0"/>
              <a:t>Future of Reasoning Prompts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CC510D-20E6-02C3-4FA0-389454EC2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Future of Reasoning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Hybrid models (mix CoT + ToT)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Integration in </a:t>
            </a:r>
            <a:r>
              <a:rPr lang="en-US" b="1" dirty="0"/>
              <a:t>autonomous agents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Better evaluation metrics for reasoning quality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next generation: </a:t>
            </a:r>
            <a:r>
              <a:rPr lang="en-US" b="1" dirty="0"/>
              <a:t>Meta-Reasoning Prompts</a:t>
            </a:r>
            <a:endParaRPr lang="en-US" dirty="0"/>
          </a:p>
          <a:p>
            <a:endParaRPr lang="en-US" dirty="0"/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AF187FB2-07E4-808F-2D44-05BE8365955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5576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12439">
        <p15:prstTrans prst="curtains"/>
      </p:transition>
    </mc:Choice>
    <mc:Fallback>
      <p:transition spd="slow" advTm="12439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89A51-D3E2-4965-1058-572FCC91B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13A37-C9E8-B7BF-F337-EA2236BA0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en-US" b="1" dirty="0"/>
            </a:br>
            <a:r>
              <a:rPr lang="en-US" b="1" dirty="0"/>
              <a:t>Conclusion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9EB49-130A-8B54-E0C7-FD3E28221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6110" y="2068221"/>
            <a:ext cx="9649408" cy="292365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CoT = Foundation of structured reasoning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ToT = Expansion toward cognitive exploration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Together they define the </a:t>
            </a:r>
            <a:r>
              <a:rPr lang="en-US" b="1" dirty="0"/>
              <a:t>future of intelligent prompting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2BFF8F21-30EF-606E-9868-A88ED700C27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32828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9008">
        <p15:prstTrans prst="curtains"/>
      </p:transition>
    </mc:Choice>
    <mc:Fallback>
      <p:transition spd="slow" advTm="9008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9F6BE-9DA6-375A-8084-09AA25CD8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36A18-0AFD-942D-7091-058D3318D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br>
              <a:rPr lang="en-US" b="1" dirty="0"/>
            </a:br>
            <a:r>
              <a:rPr lang="en-US" b="1" dirty="0"/>
              <a:t>QUESTIONS &amp; ANSWER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B86EB-D06D-F677-06CF-2965DAE1CA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8502" y="2573661"/>
            <a:ext cx="5525277" cy="1710677"/>
          </a:xfrm>
        </p:spPr>
        <p:txBody>
          <a:bodyPr/>
          <a:lstStyle/>
          <a:p>
            <a:pPr>
              <a:buNone/>
            </a:pPr>
            <a:r>
              <a:rPr lang="en-US" b="1" dirty="0"/>
              <a:t>Q&amp;A</a:t>
            </a:r>
          </a:p>
          <a:p>
            <a:pPr>
              <a:buNone/>
            </a:pPr>
            <a:r>
              <a:rPr lang="en-US" dirty="0"/>
              <a:t>“Reasoning isn’t just what the model does — it’s how we teach it to think.”</a:t>
            </a:r>
          </a:p>
          <a:p>
            <a:endParaRPr lang="en-US" dirty="0"/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9B1EF920-166C-D6C3-3118-6D2DC6887CD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63555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8432">
        <p15:prstTrans prst="curtains"/>
      </p:transition>
    </mc:Choice>
    <mc:Fallback>
      <p:transition spd="slow" advTm="8432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A9FB6-3531-6F30-5049-A9EDC1E5C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696" y="2264852"/>
            <a:ext cx="10515600" cy="2328296"/>
          </a:xfrm>
        </p:spPr>
        <p:txBody>
          <a:bodyPr/>
          <a:lstStyle/>
          <a:p>
            <a:pPr algn="ctr"/>
            <a:r>
              <a:rPr lang="en-US" sz="4800" b="1" dirty="0">
                <a:latin typeface="Algerian" panose="04020705040A02060702" pitchFamily="82" charset="0"/>
              </a:rPr>
              <a:t>THANKS FOR </a:t>
            </a:r>
            <a:br>
              <a:rPr lang="en-US" sz="4800" b="1" dirty="0">
                <a:latin typeface="Algerian" panose="04020705040A02060702" pitchFamily="82" charset="0"/>
              </a:rPr>
            </a:br>
            <a:r>
              <a:rPr lang="en-US" sz="4800" b="1" dirty="0">
                <a:latin typeface="Algerian" panose="04020705040A02060702" pitchFamily="82" charset="0"/>
              </a:rPr>
              <a:t>WATCHING</a:t>
            </a:r>
          </a:p>
        </p:txBody>
      </p:sp>
      <p:pic>
        <p:nvPicPr>
          <p:cNvPr id="4" name="Audio 3">
            <a:hlinkClick r:id="" action="ppaction://media"/>
            <a:extLst>
              <a:ext uri="{FF2B5EF4-FFF2-40B4-BE49-F238E27FC236}">
                <a16:creationId xmlns:a16="http://schemas.microsoft.com/office/drawing/2014/main" id="{6577AA14-B2AB-F70B-6178-6DE39193574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62704" t="-125896" r="-262704" b="-125896"/>
          <a:stretch>
            <a:fillRect/>
          </a:stretch>
        </p:blipFill>
        <p:spPr>
          <a:xfrm>
            <a:off x="9144000" y="5143500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96261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Tm="1694">
        <p15:prstTrans prst="curtains"/>
      </p:transition>
    </mc:Choice>
    <mc:Fallback>
      <p:transition spd="slow" advTm="1694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266</TotalTime>
  <Words>593</Words>
  <Application>Microsoft Office PowerPoint</Application>
  <PresentationFormat>Widescreen</PresentationFormat>
  <Paragraphs>88</Paragraphs>
  <Slides>14</Slides>
  <Notes>0</Notes>
  <HiddenSlides>0</HiddenSlides>
  <MMClips>14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Algerian</vt:lpstr>
      <vt:lpstr>Arial</vt:lpstr>
      <vt:lpstr>Tw Cen MT</vt:lpstr>
      <vt:lpstr>Circuit</vt:lpstr>
      <vt:lpstr>From Chain of Thought to Tree of Thought  </vt:lpstr>
      <vt:lpstr>INTRODUCTION</vt:lpstr>
      <vt:lpstr>Chain of Thought (CoT)</vt:lpstr>
      <vt:lpstr> Key Features of CoT </vt:lpstr>
      <vt:lpstr> Tree of Thought (ToT)</vt:lpstr>
      <vt:lpstr> ToT Example </vt:lpstr>
      <vt:lpstr> CoT vs ToT – Comparison Table</vt:lpstr>
      <vt:lpstr> Applications in Prompt Engineering </vt:lpstr>
      <vt:lpstr> How to Design CoT and ToT Prompts </vt:lpstr>
      <vt:lpstr> Strengths and Limitations </vt:lpstr>
      <vt:lpstr> Future of Reasoning Prompts </vt:lpstr>
      <vt:lpstr> Conclusion </vt:lpstr>
      <vt:lpstr> QUESTIONS &amp; ANSWER</vt:lpstr>
      <vt:lpstr>THANKS FOR  WATCHING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bc160404395 Zakia Bashir</dc:creator>
  <cp:lastModifiedBy>bc160404395 Zakia Bashir</cp:lastModifiedBy>
  <cp:revision>5</cp:revision>
  <dcterms:created xsi:type="dcterms:W3CDTF">2025-11-05T15:39:12Z</dcterms:created>
  <dcterms:modified xsi:type="dcterms:W3CDTF">2025-11-10T09:41:50Z</dcterms:modified>
</cp:coreProperties>
</file>